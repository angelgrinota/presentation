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71" r:id="rId4"/>
    <p:sldId id="270" r:id="rId5"/>
    <p:sldId id="276" r:id="rId6"/>
    <p:sldId id="269" r:id="rId7"/>
    <p:sldId id="275" r:id="rId8"/>
    <p:sldId id="272" r:id="rId9"/>
    <p:sldId id="273" r:id="rId10"/>
    <p:sldId id="274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FFC4A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63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221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2939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645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122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4298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9998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8643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3150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6863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C4A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Овал 31">
            <a:extLst>
              <a:ext uri="{FF2B5EF4-FFF2-40B4-BE49-F238E27FC236}">
                <a16:creationId xmlns:a16="http://schemas.microsoft.com/office/drawing/2014/main" id="{C3CD927C-0D78-6C61-3DA1-D0128CF97D03}"/>
              </a:ext>
            </a:extLst>
          </p:cNvPr>
          <p:cNvSpPr/>
          <p:nvPr/>
        </p:nvSpPr>
        <p:spPr>
          <a:xfrm>
            <a:off x="1028700" y="5937691"/>
            <a:ext cx="2457450" cy="245745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>
            <a:extLst>
              <a:ext uri="{FF2B5EF4-FFF2-40B4-BE49-F238E27FC236}">
                <a16:creationId xmlns:a16="http://schemas.microsoft.com/office/drawing/2014/main" id="{56005B72-5DFD-0EEB-EC2C-30587A94F227}"/>
              </a:ext>
            </a:extLst>
          </p:cNvPr>
          <p:cNvSpPr/>
          <p:nvPr/>
        </p:nvSpPr>
        <p:spPr>
          <a:xfrm>
            <a:off x="-828675" y="-611558"/>
            <a:ext cx="2457450" cy="245745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2053689" y="468534"/>
            <a:ext cx="8084620" cy="1401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600" b="1" dirty="0"/>
              <a:t>ФЕДЕРАЛЬНОЕ ГОСУДАРСТВЕННОЕ БЮДЖЕТНОЕ ОБРАЗОВАТЕЛЬНОЕ УЧРЕЖДЕНИЕ ВЫСШЕГО ОБРАЗОВАНИЯ </a:t>
            </a:r>
            <a:br>
              <a:rPr lang="ru-RU" sz="1600" b="1" dirty="0"/>
            </a:br>
            <a:r>
              <a:rPr lang="ru-RU" sz="1600" b="1" dirty="0"/>
              <a:t>«САНКТ-ПЕТЕРБУРГСКИЙ ГОСУДАРСТВЕННЫЙ УНИВЕРСИТЕТ ТЕЛЕКОММУНИКАЦИЙ ИМ. ПРОФ. М.А. БОНЧ-БРУЕВИЧА» </a:t>
            </a:r>
            <a:br>
              <a:rPr lang="ru-RU" sz="1600" b="1" dirty="0"/>
            </a:br>
            <a:r>
              <a:rPr lang="ru-RU" sz="1600" b="1" dirty="0"/>
              <a:t>(СПбГУТ) </a:t>
            </a:r>
            <a:br>
              <a:rPr lang="ru-RU" sz="1600" b="1" dirty="0"/>
            </a:br>
            <a:br>
              <a:rPr lang="ru-RU" sz="1600" b="1" dirty="0"/>
            </a:br>
            <a:r>
              <a:rPr lang="ru-RU" sz="1600" b="1" dirty="0"/>
              <a:t>АРХАНГЕЛЬСКИЙ КОЛЛЕДЖ ТЕЛЕКОММУНИКАЦИЙ </a:t>
            </a:r>
            <a:br>
              <a:rPr lang="ru-RU" sz="1600" b="1" dirty="0"/>
            </a:br>
            <a:r>
              <a:rPr lang="ru-RU" sz="1600" b="1" dirty="0"/>
              <a:t>ИМ. Б.Л. РОЗИНГА (ФИЛИАЛ) СПбГУТ </a:t>
            </a:r>
            <a:br>
              <a:rPr lang="ru-RU" sz="1600" b="1" dirty="0"/>
            </a:br>
            <a:r>
              <a:rPr lang="ru-RU" sz="1600" b="1" dirty="0"/>
              <a:t>(АКТ (ф) СПбГУТ) </a:t>
            </a:r>
            <a:endParaRPr lang="en-US" sz="16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129A70-40A9-97E6-8158-A8661A658A4D}"/>
              </a:ext>
            </a:extLst>
          </p:cNvPr>
          <p:cNvSpPr txBox="1"/>
          <p:nvPr/>
        </p:nvSpPr>
        <p:spPr>
          <a:xfrm>
            <a:off x="1831648" y="2473076"/>
            <a:ext cx="85287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ea typeface="Verdana" panose="020B0604030504040204" pitchFamily="34" charset="0"/>
              </a:rPr>
              <a:t>ДИПЛОМНЫЙ ПРОЕКТ</a:t>
            </a:r>
            <a:endParaRPr lang="ru-RU" sz="24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08F988-A29F-A789-2B8F-5F13D806E266}"/>
              </a:ext>
            </a:extLst>
          </p:cNvPr>
          <p:cNvSpPr txBox="1"/>
          <p:nvPr/>
        </p:nvSpPr>
        <p:spPr>
          <a:xfrm>
            <a:off x="-1609725" y="3264191"/>
            <a:ext cx="145923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ea typeface="Verdana" panose="020B0604030504040204" pitchFamily="34" charset="0"/>
              </a:rPr>
              <a:t>РАЗРАБОТКА ИНФОРМАЦИОННОЙ СИСТЕМЫ</a:t>
            </a:r>
          </a:p>
          <a:p>
            <a:pPr algn="ctr"/>
            <a:r>
              <a:rPr lang="ru-RU" sz="2400" b="1" dirty="0">
                <a:ea typeface="Verdana" panose="020B0604030504040204" pitchFamily="34" charset="0"/>
              </a:rPr>
              <a:t>ДЛЯ ИЗУЧЕНИЯ ПРАВИЛ РУССКОГО ЯЗЫКА «ГРАММАРИУМ»</a:t>
            </a:r>
            <a:endParaRPr lang="ru-RU" sz="24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6445F3-FE04-ED86-447F-D33A81725C7D}"/>
              </a:ext>
            </a:extLst>
          </p:cNvPr>
          <p:cNvSpPr txBox="1"/>
          <p:nvPr/>
        </p:nvSpPr>
        <p:spPr>
          <a:xfrm>
            <a:off x="299100" y="4672584"/>
            <a:ext cx="62159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ea typeface="Verdana" panose="020B0604030504040204" pitchFamily="34" charset="0"/>
              </a:rPr>
              <a:t>Дипломник </a:t>
            </a:r>
          </a:p>
          <a:p>
            <a:r>
              <a:rPr lang="ru-RU" sz="1600" dirty="0" err="1">
                <a:ea typeface="Verdana" panose="020B0604030504040204" pitchFamily="34" charset="0"/>
              </a:rPr>
              <a:t>Вепрёв</a:t>
            </a:r>
            <a:r>
              <a:rPr lang="ru-RU" sz="1600" dirty="0">
                <a:ea typeface="Verdana" panose="020B0604030504040204" pitchFamily="34" charset="0"/>
              </a:rPr>
              <a:t> Александр Михайлович </a:t>
            </a:r>
            <a:endParaRPr lang="ru-RU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4FFBA4-F36A-A395-8992-3C4F95CECFA7}"/>
              </a:ext>
            </a:extLst>
          </p:cNvPr>
          <p:cNvSpPr txBox="1"/>
          <p:nvPr/>
        </p:nvSpPr>
        <p:spPr>
          <a:xfrm>
            <a:off x="299100" y="5352916"/>
            <a:ext cx="58880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ea typeface="Verdana" panose="020B0604030504040204" pitchFamily="34" charset="0"/>
              </a:rPr>
              <a:t>Дипломный руководитель</a:t>
            </a:r>
          </a:p>
          <a:p>
            <a:r>
              <a:rPr lang="ru-RU" sz="1600" dirty="0">
                <a:ea typeface="Verdana" panose="020B0604030504040204" pitchFamily="34" charset="0"/>
              </a:rPr>
              <a:t>Старостина Вера Валерьевна</a:t>
            </a:r>
            <a:endParaRPr lang="ru-RU" sz="16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C9ECBD-0FBE-9B97-3B54-1F1CB1DDAD32}"/>
              </a:ext>
            </a:extLst>
          </p:cNvPr>
          <p:cNvSpPr txBox="1"/>
          <p:nvPr/>
        </p:nvSpPr>
        <p:spPr>
          <a:xfrm>
            <a:off x="3151975" y="6426436"/>
            <a:ext cx="58880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ea typeface="Verdana" panose="020B0604030504040204" pitchFamily="34" charset="0"/>
              </a:rPr>
              <a:t>Архангельск 2026</a:t>
            </a:r>
            <a:endParaRPr lang="ru-RU" sz="1600" dirty="0"/>
          </a:p>
        </p:txBody>
      </p:sp>
      <p:sp>
        <p:nvSpPr>
          <p:cNvPr id="31" name="Овал 30">
            <a:extLst>
              <a:ext uri="{FF2B5EF4-FFF2-40B4-BE49-F238E27FC236}">
                <a16:creationId xmlns:a16="http://schemas.microsoft.com/office/drawing/2014/main" id="{5AE369CE-41EA-1633-FD0D-238019E1BEAC}"/>
              </a:ext>
            </a:extLst>
          </p:cNvPr>
          <p:cNvSpPr/>
          <p:nvPr/>
        </p:nvSpPr>
        <p:spPr>
          <a:xfrm>
            <a:off x="10963275" y="2604460"/>
            <a:ext cx="2457450" cy="245745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46435" y="265176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latin typeface="Aptos Display" pitchFamily="34" charset="0"/>
              </a:rPr>
              <a:t>ЦЕЛЕВАЯ АУДИТОРИЯ</a:t>
            </a:r>
            <a:endParaRPr lang="en-US" sz="3200" b="1" dirty="0"/>
          </a:p>
        </p:txBody>
      </p:sp>
      <p:sp>
        <p:nvSpPr>
          <p:cNvPr id="36" name="Text 34"/>
          <p:cNvSpPr/>
          <p:nvPr/>
        </p:nvSpPr>
        <p:spPr>
          <a:xfrm>
            <a:off x="10829925" y="6234682"/>
            <a:ext cx="1162050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02/09</a:t>
            </a:r>
            <a:endParaRPr lang="en-US" sz="3600" dirty="0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EF219A1B-DB23-CEA7-3F5C-64AB41A49F56}"/>
              </a:ext>
            </a:extLst>
          </p:cNvPr>
          <p:cNvSpPr/>
          <p:nvPr/>
        </p:nvSpPr>
        <p:spPr>
          <a:xfrm>
            <a:off x="-1228725" y="2558357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B5231A5C-700A-06B4-CB2D-FED2B90EF297}"/>
              </a:ext>
            </a:extLst>
          </p:cNvPr>
          <p:cNvSpPr/>
          <p:nvPr/>
        </p:nvSpPr>
        <p:spPr>
          <a:xfrm>
            <a:off x="4539763" y="5716524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6483E92B-4707-A4DD-215C-33A35B475F29}"/>
              </a:ext>
            </a:extLst>
          </p:cNvPr>
          <p:cNvSpPr/>
          <p:nvPr/>
        </p:nvSpPr>
        <p:spPr>
          <a:xfrm>
            <a:off x="11051199" y="1122016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32" name="Picture 8" descr="Picture background">
            <a:extLst>
              <a:ext uri="{FF2B5EF4-FFF2-40B4-BE49-F238E27FC236}">
                <a16:creationId xmlns:a16="http://schemas.microsoft.com/office/drawing/2014/main" id="{AC212671-FED1-90A4-3B63-20198A23A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7646" y="2196732"/>
            <a:ext cx="4153654" cy="3415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497754BA-8740-3DD2-E245-C6042FA99E0D}"/>
              </a:ext>
            </a:extLst>
          </p:cNvPr>
          <p:cNvSpPr txBox="1"/>
          <p:nvPr/>
        </p:nvSpPr>
        <p:spPr>
          <a:xfrm>
            <a:off x="902228" y="1195741"/>
            <a:ext cx="45734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dirty="0"/>
              <a:t> Студенты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D50CE0-F4D2-0820-B22B-CC3B8212ABAE}"/>
              </a:ext>
            </a:extLst>
          </p:cNvPr>
          <p:cNvSpPr txBox="1"/>
          <p:nvPr/>
        </p:nvSpPr>
        <p:spPr>
          <a:xfrm>
            <a:off x="6423514" y="1014984"/>
            <a:ext cx="380317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dirty="0"/>
              <a:t>Преподаватели русского языка</a:t>
            </a:r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44F9485E-CF47-51CD-E7EE-73C549D141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3817" y="2197491"/>
            <a:ext cx="3153132" cy="3153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46435" y="265176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АКТУАЛЬНОСТЬ</a:t>
            </a:r>
            <a:endParaRPr lang="en-US" sz="3200" b="1" dirty="0"/>
          </a:p>
        </p:txBody>
      </p:sp>
      <p:sp>
        <p:nvSpPr>
          <p:cNvPr id="5" name="Text 34">
            <a:extLst>
              <a:ext uri="{FF2B5EF4-FFF2-40B4-BE49-F238E27FC236}">
                <a16:creationId xmlns:a16="http://schemas.microsoft.com/office/drawing/2014/main" id="{879D2725-CFAF-EF32-0C84-50D3E4D96774}"/>
              </a:ext>
            </a:extLst>
          </p:cNvPr>
          <p:cNvSpPr/>
          <p:nvPr/>
        </p:nvSpPr>
        <p:spPr>
          <a:xfrm>
            <a:off x="10829925" y="6234682"/>
            <a:ext cx="1162050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03/09</a:t>
            </a:r>
            <a:endParaRPr lang="en-US" sz="3600" dirty="0"/>
          </a:p>
        </p:txBody>
      </p: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75DC5FAF-37AB-2F5C-F232-13D590F633E3}"/>
              </a:ext>
            </a:extLst>
          </p:cNvPr>
          <p:cNvGrpSpPr/>
          <p:nvPr/>
        </p:nvGrpSpPr>
        <p:grpSpPr>
          <a:xfrm>
            <a:off x="363114" y="1602221"/>
            <a:ext cx="5420572" cy="1112737"/>
            <a:chOff x="2412754" y="2109123"/>
            <a:chExt cx="8384467" cy="3998961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16" name="Shape 27">
              <a:extLst>
                <a:ext uri="{FF2B5EF4-FFF2-40B4-BE49-F238E27FC236}">
                  <a16:creationId xmlns:a16="http://schemas.microsoft.com/office/drawing/2014/main" id="{817E654C-38E2-DD9D-F4FE-6DCE320CC62B}"/>
                </a:ext>
              </a:extLst>
            </p:cNvPr>
            <p:cNvSpPr/>
            <p:nvPr/>
          </p:nvSpPr>
          <p:spPr>
            <a:xfrm>
              <a:off x="2412754" y="2109123"/>
              <a:ext cx="8384467" cy="3998961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6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781B27A-5FD1-DB4A-A578-6E11C916EBE1}"/>
                </a:ext>
              </a:extLst>
            </p:cNvPr>
            <p:cNvSpPr txBox="1"/>
            <p:nvPr/>
          </p:nvSpPr>
          <p:spPr>
            <a:xfrm>
              <a:off x="2837399" y="2658070"/>
              <a:ext cx="7535175" cy="298644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систематизация учебных материалов</a:t>
              </a:r>
            </a:p>
          </p:txBody>
        </p:sp>
      </p:grp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2557495E-21CF-7B13-6065-667C3B079C74}"/>
              </a:ext>
            </a:extLst>
          </p:cNvPr>
          <p:cNvGrpSpPr/>
          <p:nvPr/>
        </p:nvGrpSpPr>
        <p:grpSpPr>
          <a:xfrm>
            <a:off x="6408314" y="1602222"/>
            <a:ext cx="5420572" cy="1112737"/>
            <a:chOff x="2412754" y="2109123"/>
            <a:chExt cx="8384467" cy="3998961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0" name="Shape 27">
              <a:extLst>
                <a:ext uri="{FF2B5EF4-FFF2-40B4-BE49-F238E27FC236}">
                  <a16:creationId xmlns:a16="http://schemas.microsoft.com/office/drawing/2014/main" id="{C90931A6-572A-98CD-DAC2-36ADCA95B6FB}"/>
                </a:ext>
              </a:extLst>
            </p:cNvPr>
            <p:cNvSpPr/>
            <p:nvPr/>
          </p:nvSpPr>
          <p:spPr>
            <a:xfrm>
              <a:off x="2412754" y="2109123"/>
              <a:ext cx="8384467" cy="3998961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6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078496D-C88C-662F-3C43-FD6832C26373}"/>
                </a:ext>
              </a:extLst>
            </p:cNvPr>
            <p:cNvSpPr txBox="1"/>
            <p:nvPr/>
          </p:nvSpPr>
          <p:spPr>
            <a:xfrm>
              <a:off x="2837399" y="3194176"/>
              <a:ext cx="7535175" cy="1659134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закрепление правил на практике</a:t>
              </a:r>
            </a:p>
          </p:txBody>
        </p:sp>
      </p:grp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EDC985BA-2CFB-3079-E9C9-BCA9317188B3}"/>
              </a:ext>
            </a:extLst>
          </p:cNvPr>
          <p:cNvGrpSpPr/>
          <p:nvPr/>
        </p:nvGrpSpPr>
        <p:grpSpPr>
          <a:xfrm>
            <a:off x="363113" y="4514937"/>
            <a:ext cx="5420572" cy="1112737"/>
            <a:chOff x="2412754" y="2109123"/>
            <a:chExt cx="8384467" cy="3998961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3" name="Shape 27">
              <a:extLst>
                <a:ext uri="{FF2B5EF4-FFF2-40B4-BE49-F238E27FC236}">
                  <a16:creationId xmlns:a16="http://schemas.microsoft.com/office/drawing/2014/main" id="{040DA31B-E3F2-606F-5726-1D6AC1936529}"/>
                </a:ext>
              </a:extLst>
            </p:cNvPr>
            <p:cNvSpPr/>
            <p:nvPr/>
          </p:nvSpPr>
          <p:spPr>
            <a:xfrm>
              <a:off x="2412754" y="2109123"/>
              <a:ext cx="8384467" cy="3998961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6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A0555EE-DCC9-9A4D-C10A-C884982A4322}"/>
                </a:ext>
              </a:extLst>
            </p:cNvPr>
            <p:cNvSpPr txBox="1"/>
            <p:nvPr/>
          </p:nvSpPr>
          <p:spPr>
            <a:xfrm>
              <a:off x="2837399" y="3093887"/>
              <a:ext cx="7535175" cy="1659134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автоматизация проверки знаний</a:t>
              </a:r>
            </a:p>
          </p:txBody>
        </p:sp>
      </p:grpSp>
      <p:grpSp>
        <p:nvGrpSpPr>
          <p:cNvPr id="25" name="Группа 24">
            <a:extLst>
              <a:ext uri="{FF2B5EF4-FFF2-40B4-BE49-F238E27FC236}">
                <a16:creationId xmlns:a16="http://schemas.microsoft.com/office/drawing/2014/main" id="{6E0BC681-005D-9921-BA2D-5688A0B27841}"/>
              </a:ext>
            </a:extLst>
          </p:cNvPr>
          <p:cNvGrpSpPr/>
          <p:nvPr/>
        </p:nvGrpSpPr>
        <p:grpSpPr>
          <a:xfrm>
            <a:off x="6408314" y="4514936"/>
            <a:ext cx="5420572" cy="1112737"/>
            <a:chOff x="2412754" y="2109123"/>
            <a:chExt cx="8384467" cy="3998961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6" name="Shape 27">
              <a:extLst>
                <a:ext uri="{FF2B5EF4-FFF2-40B4-BE49-F238E27FC236}">
                  <a16:creationId xmlns:a16="http://schemas.microsoft.com/office/drawing/2014/main" id="{16F24CAC-E9B8-3851-E4C8-29D3A67BAC64}"/>
                </a:ext>
              </a:extLst>
            </p:cNvPr>
            <p:cNvSpPr/>
            <p:nvPr/>
          </p:nvSpPr>
          <p:spPr>
            <a:xfrm>
              <a:off x="2412754" y="2109123"/>
              <a:ext cx="8384467" cy="3998961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6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A94FE77-B0AE-4CF0-CA74-3ED6D4D21846}"/>
                </a:ext>
              </a:extLst>
            </p:cNvPr>
            <p:cNvSpPr txBox="1"/>
            <p:nvPr/>
          </p:nvSpPr>
          <p:spPr>
            <a:xfrm>
              <a:off x="2708520" y="3279033"/>
              <a:ext cx="7959822" cy="1659134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контроль результатов тестирования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5693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1465" y="265177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latin typeface="Aptos Display" pitchFamily="34" charset="0"/>
              </a:rPr>
              <a:t>ЦЕЛЬ</a:t>
            </a:r>
            <a:endParaRPr lang="en-US" sz="3200" b="1" dirty="0"/>
          </a:p>
        </p:txBody>
      </p:sp>
      <p:sp>
        <p:nvSpPr>
          <p:cNvPr id="29" name="Shape 27"/>
          <p:cNvSpPr/>
          <p:nvPr/>
        </p:nvSpPr>
        <p:spPr>
          <a:xfrm>
            <a:off x="2630566" y="2571982"/>
            <a:ext cx="7696991" cy="1714036"/>
          </a:xfrm>
          <a:prstGeom prst="roundRect">
            <a:avLst>
              <a:gd name="adj" fmla="val 4132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algn="ctr"/>
            <a:endParaRPr lang="ru-RU" sz="2400" dirty="0">
              <a:latin typeface="Aptos Display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DBC032-13FF-6847-79DE-D1DB066F3FE9}"/>
              </a:ext>
            </a:extLst>
          </p:cNvPr>
          <p:cNvSpPr txBox="1"/>
          <p:nvPr/>
        </p:nvSpPr>
        <p:spPr>
          <a:xfrm>
            <a:off x="3255837" y="3034413"/>
            <a:ext cx="644645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0" i="0" dirty="0">
                <a:effectLst/>
                <a:latin typeface="Aptos Display" panose="020B0004020202020204" pitchFamily="34" charset="0"/>
              </a:rPr>
              <a:t>Разработать информационную систему «</a:t>
            </a:r>
            <a:r>
              <a:rPr lang="ru-RU" sz="2800" b="0" i="0" dirty="0" err="1">
                <a:effectLst/>
                <a:latin typeface="Aptos Display" panose="020B0004020202020204" pitchFamily="34" charset="0"/>
              </a:rPr>
              <a:t>Граммариум</a:t>
            </a:r>
            <a:r>
              <a:rPr lang="ru-RU" sz="2800" b="0" i="0" dirty="0">
                <a:effectLst/>
                <a:latin typeface="Aptos Display" panose="020B0004020202020204" pitchFamily="34" charset="0"/>
              </a:rPr>
              <a:t>»</a:t>
            </a:r>
            <a:endParaRPr lang="ru-RU" sz="2800" dirty="0">
              <a:latin typeface="Aptos Display" panose="020B0004020202020204" pitchFamily="34" charset="0"/>
            </a:endParaRPr>
          </a:p>
        </p:txBody>
      </p:sp>
      <p:pic>
        <p:nvPicPr>
          <p:cNvPr id="2052" name="Picture 4" descr="Picture background">
            <a:extLst>
              <a:ext uri="{FF2B5EF4-FFF2-40B4-BE49-F238E27FC236}">
                <a16:creationId xmlns:a16="http://schemas.microsoft.com/office/drawing/2014/main" id="{A0ED3D34-292B-3423-2DF1-5D4065216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3587" y="1998012"/>
            <a:ext cx="1147940" cy="1147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34">
            <a:extLst>
              <a:ext uri="{FF2B5EF4-FFF2-40B4-BE49-F238E27FC236}">
                <a16:creationId xmlns:a16="http://schemas.microsoft.com/office/drawing/2014/main" id="{DBB20590-8976-7ED9-D4A3-570F3603457D}"/>
              </a:ext>
            </a:extLst>
          </p:cNvPr>
          <p:cNvSpPr/>
          <p:nvPr/>
        </p:nvSpPr>
        <p:spPr>
          <a:xfrm>
            <a:off x="10829925" y="6234682"/>
            <a:ext cx="1162050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r>
              <a:rPr lang="ru-RU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/09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535766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605" y="291072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latin typeface="+mj-lt"/>
              </a:rPr>
              <a:t>ЗАДАЧИ</a:t>
            </a:r>
            <a:endParaRPr lang="en-US" sz="3200" b="1" dirty="0">
              <a:latin typeface="+mj-lt"/>
            </a:endParaRPr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BB242B2E-D742-8095-214A-B6BB250D6203}"/>
              </a:ext>
            </a:extLst>
          </p:cNvPr>
          <p:cNvGrpSpPr/>
          <p:nvPr/>
        </p:nvGrpSpPr>
        <p:grpSpPr>
          <a:xfrm>
            <a:off x="4707256" y="1694851"/>
            <a:ext cx="2764067" cy="1313088"/>
            <a:chOff x="2412753" y="2109123"/>
            <a:chExt cx="8132621" cy="2766244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9" name="Shape 27"/>
            <p:cNvSpPr/>
            <p:nvPr/>
          </p:nvSpPr>
          <p:spPr>
            <a:xfrm>
              <a:off x="2412753" y="2109123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1"/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6DBC032-13FF-6847-79DE-D1DB066F3FE9}"/>
                </a:ext>
              </a:extLst>
            </p:cNvPr>
            <p:cNvSpPr txBox="1"/>
            <p:nvPr/>
          </p:nvSpPr>
          <p:spPr>
            <a:xfrm>
              <a:off x="2644812" y="2616925"/>
              <a:ext cx="7587566" cy="1750637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Проектирование и реализация БД</a:t>
              </a:r>
            </a:p>
          </p:txBody>
        </p:sp>
      </p:grpSp>
      <p:sp>
        <p:nvSpPr>
          <p:cNvPr id="5" name="Text 34">
            <a:extLst>
              <a:ext uri="{FF2B5EF4-FFF2-40B4-BE49-F238E27FC236}">
                <a16:creationId xmlns:a16="http://schemas.microsoft.com/office/drawing/2014/main" id="{DBB20590-8976-7ED9-D4A3-570F3603457D}"/>
              </a:ext>
            </a:extLst>
          </p:cNvPr>
          <p:cNvSpPr/>
          <p:nvPr/>
        </p:nvSpPr>
        <p:spPr>
          <a:xfrm>
            <a:off x="10668000" y="6234682"/>
            <a:ext cx="1323975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B8B8B8"/>
                </a:solidFill>
                <a:latin typeface="Bahnschrift Light" panose="020B0502040204020203" pitchFamily="34" charset="0"/>
                <a:ea typeface="Aptos" pitchFamily="34" charset="-122"/>
                <a:cs typeface="Aptos" pitchFamily="34" charset="-120"/>
              </a:rPr>
              <a:t>0</a:t>
            </a:r>
            <a:r>
              <a:rPr lang="ru-RU" sz="3600" b="1" dirty="0">
                <a:solidFill>
                  <a:srgbClr val="B8B8B8"/>
                </a:solidFill>
                <a:latin typeface="Bahnschrift Light" panose="020B0502040204020203" pitchFamily="34" charset="0"/>
                <a:ea typeface="Aptos" pitchFamily="34" charset="-122"/>
                <a:cs typeface="Aptos" pitchFamily="34" charset="-120"/>
              </a:rPr>
              <a:t>8</a:t>
            </a:r>
            <a:r>
              <a:rPr lang="en-US" sz="3600" b="1" dirty="0">
                <a:solidFill>
                  <a:srgbClr val="B8B8B8"/>
                </a:solidFill>
                <a:latin typeface="Bahnschrift Light" panose="020B0502040204020203" pitchFamily="34" charset="0"/>
                <a:ea typeface="Aptos" pitchFamily="34" charset="-122"/>
                <a:cs typeface="Aptos" pitchFamily="34" charset="-120"/>
              </a:rPr>
              <a:t>/09</a:t>
            </a:r>
            <a:endParaRPr lang="en-US" sz="3600" dirty="0">
              <a:latin typeface="Bahnschrift Light" panose="020B0502040204020203" pitchFamily="34" charset="0"/>
            </a:endParaRP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4D52CDDF-295C-E77A-5259-7C2580CB2C8D}"/>
              </a:ext>
            </a:extLst>
          </p:cNvPr>
          <p:cNvGrpSpPr/>
          <p:nvPr/>
        </p:nvGrpSpPr>
        <p:grpSpPr>
          <a:xfrm>
            <a:off x="4707256" y="3967346"/>
            <a:ext cx="2764067" cy="1313088"/>
            <a:chOff x="2517702" y="2061014"/>
            <a:chExt cx="8132621" cy="2766244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14" name="Shape 27">
              <a:extLst>
                <a:ext uri="{FF2B5EF4-FFF2-40B4-BE49-F238E27FC236}">
                  <a16:creationId xmlns:a16="http://schemas.microsoft.com/office/drawing/2014/main" id="{03757012-3530-EBCF-374A-CC6F1D1E4ACC}"/>
                </a:ext>
              </a:extLst>
            </p:cNvPr>
            <p:cNvSpPr/>
            <p:nvPr/>
          </p:nvSpPr>
          <p:spPr>
            <a:xfrm>
              <a:off x="2517702" y="2061014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1"/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030A7BE-D04F-686F-83FA-6DBF7BFA25A2}"/>
                </a:ext>
              </a:extLst>
            </p:cNvPr>
            <p:cNvSpPr txBox="1"/>
            <p:nvPr/>
          </p:nvSpPr>
          <p:spPr>
            <a:xfrm>
              <a:off x="2558170" y="2915914"/>
              <a:ext cx="7841784" cy="972576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>
                  <a:cs typeface="Segoe UI" panose="020B0502040204020203" pitchFamily="34" charset="0"/>
                </a:rPr>
                <a:t>Тестирование</a:t>
              </a:r>
            </a:p>
          </p:txBody>
        </p:sp>
      </p:grp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2A1355C0-E0AC-11EC-478A-07485CCD6AB5}"/>
              </a:ext>
            </a:extLst>
          </p:cNvPr>
          <p:cNvGrpSpPr/>
          <p:nvPr/>
        </p:nvGrpSpPr>
        <p:grpSpPr>
          <a:xfrm>
            <a:off x="1372532" y="1694851"/>
            <a:ext cx="2764067" cy="1313088"/>
            <a:chOff x="2412753" y="2109123"/>
            <a:chExt cx="8132621" cy="2766244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17" name="Shape 27">
              <a:extLst>
                <a:ext uri="{FF2B5EF4-FFF2-40B4-BE49-F238E27FC236}">
                  <a16:creationId xmlns:a16="http://schemas.microsoft.com/office/drawing/2014/main" id="{2198B90E-D6C3-AA07-A4D1-55184B37A8E0}"/>
                </a:ext>
              </a:extLst>
            </p:cNvPr>
            <p:cNvSpPr/>
            <p:nvPr/>
          </p:nvSpPr>
          <p:spPr>
            <a:xfrm>
              <a:off x="2412753" y="2109123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1"/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1174A51-36EC-D02E-D2A8-A9898EB4D590}"/>
                </a:ext>
              </a:extLst>
            </p:cNvPr>
            <p:cNvSpPr txBox="1"/>
            <p:nvPr/>
          </p:nvSpPr>
          <p:spPr>
            <a:xfrm>
              <a:off x="2680458" y="2238993"/>
              <a:ext cx="7624036" cy="2528698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Анализ предметной области</a:t>
              </a:r>
            </a:p>
          </p:txBody>
        </p:sp>
      </p:grp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BCED09E5-FCF2-64A9-56D8-440A52AA40E4}"/>
              </a:ext>
            </a:extLst>
          </p:cNvPr>
          <p:cNvGrpSpPr/>
          <p:nvPr/>
        </p:nvGrpSpPr>
        <p:grpSpPr>
          <a:xfrm>
            <a:off x="1373187" y="3963517"/>
            <a:ext cx="2764067" cy="1313088"/>
            <a:chOff x="2412753" y="2109124"/>
            <a:chExt cx="8132621" cy="2766244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0" name="Shape 27">
              <a:extLst>
                <a:ext uri="{FF2B5EF4-FFF2-40B4-BE49-F238E27FC236}">
                  <a16:creationId xmlns:a16="http://schemas.microsoft.com/office/drawing/2014/main" id="{D3659539-85A4-30E6-419B-86F27988D253}"/>
                </a:ext>
              </a:extLst>
            </p:cNvPr>
            <p:cNvSpPr/>
            <p:nvPr/>
          </p:nvSpPr>
          <p:spPr>
            <a:xfrm>
              <a:off x="2412753" y="2109124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1"/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D49495-9638-D7FC-2774-01ABBF106D8C}"/>
                </a:ext>
              </a:extLst>
            </p:cNvPr>
            <p:cNvSpPr txBox="1"/>
            <p:nvPr/>
          </p:nvSpPr>
          <p:spPr>
            <a:xfrm>
              <a:off x="2657323" y="2524728"/>
              <a:ext cx="7437628" cy="1750637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Разграничение прав доступа</a:t>
              </a:r>
            </a:p>
          </p:txBody>
        </p:sp>
      </p:grpSp>
      <p:sp>
        <p:nvSpPr>
          <p:cNvPr id="48" name="Овал 47">
            <a:extLst>
              <a:ext uri="{FF2B5EF4-FFF2-40B4-BE49-F238E27FC236}">
                <a16:creationId xmlns:a16="http://schemas.microsoft.com/office/drawing/2014/main" id="{18649E56-F528-B184-03BC-9F2A0C9D929B}"/>
              </a:ext>
            </a:extLst>
          </p:cNvPr>
          <p:cNvSpPr/>
          <p:nvPr/>
        </p:nvSpPr>
        <p:spPr>
          <a:xfrm>
            <a:off x="11535590" y="1431310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Овал 48">
            <a:extLst>
              <a:ext uri="{FF2B5EF4-FFF2-40B4-BE49-F238E27FC236}">
                <a16:creationId xmlns:a16="http://schemas.microsoft.com/office/drawing/2014/main" id="{47470B9A-A1B9-3A5C-9C74-585DDB95B0F6}"/>
              </a:ext>
            </a:extLst>
          </p:cNvPr>
          <p:cNvSpPr/>
          <p:nvPr/>
        </p:nvSpPr>
        <p:spPr>
          <a:xfrm>
            <a:off x="-1731162" y="2734792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Овал 49">
            <a:extLst>
              <a:ext uri="{FF2B5EF4-FFF2-40B4-BE49-F238E27FC236}">
                <a16:creationId xmlns:a16="http://schemas.microsoft.com/office/drawing/2014/main" id="{9F9F03B7-0FE5-EE72-D08D-A5F0C825E449}"/>
              </a:ext>
            </a:extLst>
          </p:cNvPr>
          <p:cNvSpPr/>
          <p:nvPr/>
        </p:nvSpPr>
        <p:spPr>
          <a:xfrm>
            <a:off x="6157504" y="5899084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51E22920-077E-2DF7-F936-7DCD9B8E8549}"/>
              </a:ext>
            </a:extLst>
          </p:cNvPr>
          <p:cNvGrpSpPr/>
          <p:nvPr/>
        </p:nvGrpSpPr>
        <p:grpSpPr>
          <a:xfrm>
            <a:off x="8054748" y="1694851"/>
            <a:ext cx="2764067" cy="1313088"/>
            <a:chOff x="2412753" y="2109123"/>
            <a:chExt cx="8132621" cy="2766244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8" name="Shape 27">
              <a:extLst>
                <a:ext uri="{FF2B5EF4-FFF2-40B4-BE49-F238E27FC236}">
                  <a16:creationId xmlns:a16="http://schemas.microsoft.com/office/drawing/2014/main" id="{2691AAE2-5EF3-144F-872B-11335AF8E727}"/>
                </a:ext>
              </a:extLst>
            </p:cNvPr>
            <p:cNvSpPr/>
            <p:nvPr/>
          </p:nvSpPr>
          <p:spPr>
            <a:xfrm>
              <a:off x="2412753" y="2109123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1"/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663CB00-B53E-C75F-9777-17DDAA2D7E98}"/>
                </a:ext>
              </a:extLst>
            </p:cNvPr>
            <p:cNvSpPr txBox="1"/>
            <p:nvPr/>
          </p:nvSpPr>
          <p:spPr>
            <a:xfrm>
              <a:off x="2644812" y="2253392"/>
              <a:ext cx="7587566" cy="2528698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/>
                <a:t>Разработка программных модулей</a:t>
              </a:r>
            </a:p>
          </p:txBody>
        </p:sp>
      </p:grp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0EA139DE-A598-3AE9-DDCE-3519ADBF8B38}"/>
              </a:ext>
            </a:extLst>
          </p:cNvPr>
          <p:cNvGrpSpPr/>
          <p:nvPr/>
        </p:nvGrpSpPr>
        <p:grpSpPr>
          <a:xfrm>
            <a:off x="8054748" y="3964033"/>
            <a:ext cx="2764067" cy="1313088"/>
            <a:chOff x="2517702" y="2061014"/>
            <a:chExt cx="8132621" cy="2766244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11" name="Shape 27">
              <a:extLst>
                <a:ext uri="{FF2B5EF4-FFF2-40B4-BE49-F238E27FC236}">
                  <a16:creationId xmlns:a16="http://schemas.microsoft.com/office/drawing/2014/main" id="{5D8DAA24-237B-B3DC-2162-F4A655367CF2}"/>
                </a:ext>
              </a:extLst>
            </p:cNvPr>
            <p:cNvSpPr/>
            <p:nvPr/>
          </p:nvSpPr>
          <p:spPr>
            <a:xfrm>
              <a:off x="2517702" y="2061014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1"/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280E9E9-14B5-A656-8174-F4275B0DD80C}"/>
                </a:ext>
              </a:extLst>
            </p:cNvPr>
            <p:cNvSpPr txBox="1"/>
            <p:nvPr/>
          </p:nvSpPr>
          <p:spPr>
            <a:xfrm>
              <a:off x="2622650" y="2443389"/>
              <a:ext cx="7841784" cy="1750637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>
                  <a:cs typeface="Segoe UI" panose="020B0502040204020203" pitchFamily="34" charset="0"/>
                </a:rPr>
                <a:t>Разработка документации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283751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1465" y="265177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latin typeface="Aptos Display" pitchFamily="34" charset="0"/>
              </a:rPr>
              <a:t>СРЕДСТВА РАЗРАБОТКИ</a:t>
            </a:r>
            <a:endParaRPr lang="en-US" sz="3200" b="1" dirty="0"/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68ECF82E-64CE-643A-0976-F146D933F9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025" y="3863193"/>
            <a:ext cx="2580370" cy="2580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" descr="Picture background">
            <a:extLst>
              <a:ext uri="{FF2B5EF4-FFF2-40B4-BE49-F238E27FC236}">
                <a16:creationId xmlns:a16="http://schemas.microsoft.com/office/drawing/2014/main" id="{F10A99DF-7C2C-C780-371F-50A4708E37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8470" y="1417212"/>
            <a:ext cx="1577595" cy="1577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Picture background">
            <a:extLst>
              <a:ext uri="{FF2B5EF4-FFF2-40B4-BE49-F238E27FC236}">
                <a16:creationId xmlns:a16="http://schemas.microsoft.com/office/drawing/2014/main" id="{5CE82100-007E-CA0C-8954-7964AD4C7D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0851" y="1227181"/>
            <a:ext cx="1943761" cy="1943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Picture background">
            <a:extLst>
              <a:ext uri="{FF2B5EF4-FFF2-40B4-BE49-F238E27FC236}">
                <a16:creationId xmlns:a16="http://schemas.microsoft.com/office/drawing/2014/main" id="{A97BC06F-87AA-B3CF-77DE-EDA262A081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0852" y="4217222"/>
            <a:ext cx="1943760" cy="1943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Picture background">
            <a:extLst>
              <a:ext uri="{FF2B5EF4-FFF2-40B4-BE49-F238E27FC236}">
                <a16:creationId xmlns:a16="http://schemas.microsoft.com/office/drawing/2014/main" id="{27BEA4CD-E81F-9A04-6F34-B77487BED9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7370" y="4188734"/>
            <a:ext cx="2891683" cy="1872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8" name="Picture 24" descr="Picture background">
            <a:extLst>
              <a:ext uri="{FF2B5EF4-FFF2-40B4-BE49-F238E27FC236}">
                <a16:creationId xmlns:a16="http://schemas.microsoft.com/office/drawing/2014/main" id="{80AB193E-4782-0A44-66B0-675DFD1A21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2154" y="1135449"/>
            <a:ext cx="3618653" cy="20354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0" name="Picture 26" descr="Picture background">
            <a:extLst>
              <a:ext uri="{FF2B5EF4-FFF2-40B4-BE49-F238E27FC236}">
                <a16:creationId xmlns:a16="http://schemas.microsoft.com/office/drawing/2014/main" id="{B3ED6586-F69D-1F54-306B-09DDDCBEE7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8620" y="4170871"/>
            <a:ext cx="3052861" cy="1908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 34">
            <a:extLst>
              <a:ext uri="{FF2B5EF4-FFF2-40B4-BE49-F238E27FC236}">
                <a16:creationId xmlns:a16="http://schemas.microsoft.com/office/drawing/2014/main" id="{A97C67DA-D17A-23F7-110D-99A7186F502E}"/>
              </a:ext>
            </a:extLst>
          </p:cNvPr>
          <p:cNvSpPr/>
          <p:nvPr/>
        </p:nvSpPr>
        <p:spPr>
          <a:xfrm>
            <a:off x="10829925" y="6234682"/>
            <a:ext cx="1162050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r>
              <a:rPr lang="ru-RU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/09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7235609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1465" y="265177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latin typeface="Aptos Display" pitchFamily="34" charset="0"/>
              </a:rPr>
              <a:t>АРХИТЕКТУРА СИСТЕМЫ</a:t>
            </a:r>
            <a:endParaRPr lang="en-US" sz="3200" b="1" dirty="0"/>
          </a:p>
        </p:txBody>
      </p:sp>
      <p:sp>
        <p:nvSpPr>
          <p:cNvPr id="4" name="Text 34">
            <a:extLst>
              <a:ext uri="{FF2B5EF4-FFF2-40B4-BE49-F238E27FC236}">
                <a16:creationId xmlns:a16="http://schemas.microsoft.com/office/drawing/2014/main" id="{A97C67DA-D17A-23F7-110D-99A7186F502E}"/>
              </a:ext>
            </a:extLst>
          </p:cNvPr>
          <p:cNvSpPr/>
          <p:nvPr/>
        </p:nvSpPr>
        <p:spPr>
          <a:xfrm>
            <a:off x="10829925" y="6234682"/>
            <a:ext cx="1162050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r>
              <a:rPr lang="ru-RU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/09</a:t>
            </a:r>
            <a:endParaRPr lang="en-US" sz="3600" dirty="0"/>
          </a:p>
        </p:txBody>
      </p:sp>
      <p:sp>
        <p:nvSpPr>
          <p:cNvPr id="5" name="Shape 27">
            <a:extLst>
              <a:ext uri="{FF2B5EF4-FFF2-40B4-BE49-F238E27FC236}">
                <a16:creationId xmlns:a16="http://schemas.microsoft.com/office/drawing/2014/main" id="{CD2C0E00-4A0E-4E35-E369-7D09F31C69A7}"/>
              </a:ext>
            </a:extLst>
          </p:cNvPr>
          <p:cNvSpPr/>
          <p:nvPr/>
        </p:nvSpPr>
        <p:spPr>
          <a:xfrm>
            <a:off x="1350363" y="2383730"/>
            <a:ext cx="2102096" cy="1177002"/>
          </a:xfrm>
          <a:prstGeom prst="roundRect">
            <a:avLst>
              <a:gd name="adj" fmla="val 4132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algn="ctr"/>
            <a:r>
              <a:rPr lang="ru-RU" sz="2400" dirty="0">
                <a:latin typeface="Aptos Display" panose="020B0004020202020204" pitchFamily="34" charset="0"/>
              </a:rPr>
              <a:t>Клиент </a:t>
            </a:r>
          </a:p>
          <a:p>
            <a:pPr algn="ctr"/>
            <a:r>
              <a:rPr lang="ru-RU" sz="2400" dirty="0">
                <a:latin typeface="Aptos Display" panose="020B0004020202020204" pitchFamily="34" charset="0"/>
              </a:rPr>
              <a:t>(веб-браузер)</a:t>
            </a:r>
          </a:p>
        </p:txBody>
      </p:sp>
      <p:sp>
        <p:nvSpPr>
          <p:cNvPr id="6" name="Shape 27">
            <a:extLst>
              <a:ext uri="{FF2B5EF4-FFF2-40B4-BE49-F238E27FC236}">
                <a16:creationId xmlns:a16="http://schemas.microsoft.com/office/drawing/2014/main" id="{6DAD1E28-80AF-2FF7-16C2-9DB047F237AA}"/>
              </a:ext>
            </a:extLst>
          </p:cNvPr>
          <p:cNvSpPr/>
          <p:nvPr/>
        </p:nvSpPr>
        <p:spPr>
          <a:xfrm>
            <a:off x="7301218" y="2383730"/>
            <a:ext cx="2194201" cy="1177002"/>
          </a:xfrm>
          <a:prstGeom prst="roundRect">
            <a:avLst>
              <a:gd name="adj" fmla="val 4132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algn="ctr"/>
            <a:r>
              <a:rPr lang="en-US" sz="2400" dirty="0">
                <a:latin typeface="Aptos Display" panose="020B0004020202020204" pitchFamily="34" charset="0"/>
              </a:rPr>
              <a:t>Flask-</a:t>
            </a:r>
            <a:r>
              <a:rPr lang="ru-RU" sz="2400" dirty="0">
                <a:latin typeface="Aptos Display" panose="020B0004020202020204" pitchFamily="34" charset="0"/>
              </a:rPr>
              <a:t>приложение</a:t>
            </a:r>
            <a:endParaRPr lang="en-US" sz="2400" dirty="0">
              <a:latin typeface="Aptos Display" panose="020B0004020202020204" pitchFamily="34" charset="0"/>
            </a:endParaRPr>
          </a:p>
        </p:txBody>
      </p:sp>
      <p:sp>
        <p:nvSpPr>
          <p:cNvPr id="7" name="Shape 27">
            <a:extLst>
              <a:ext uri="{FF2B5EF4-FFF2-40B4-BE49-F238E27FC236}">
                <a16:creationId xmlns:a16="http://schemas.microsoft.com/office/drawing/2014/main" id="{9D16E606-51A4-0206-FCE2-A7F398CEA2D7}"/>
              </a:ext>
            </a:extLst>
          </p:cNvPr>
          <p:cNvSpPr/>
          <p:nvPr/>
        </p:nvSpPr>
        <p:spPr>
          <a:xfrm>
            <a:off x="4632569" y="2383730"/>
            <a:ext cx="2102096" cy="1177002"/>
          </a:xfrm>
          <a:prstGeom prst="roundRect">
            <a:avLst>
              <a:gd name="adj" fmla="val 4132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algn="ctr"/>
            <a:endParaRPr lang="en-US" sz="2400" dirty="0">
              <a:latin typeface="Aptos Display" panose="020B0004020202020204" pitchFamily="34" charset="0"/>
            </a:endParaRPr>
          </a:p>
        </p:txBody>
      </p:sp>
      <p:sp>
        <p:nvSpPr>
          <p:cNvPr id="8" name="Shape 27">
            <a:extLst>
              <a:ext uri="{FF2B5EF4-FFF2-40B4-BE49-F238E27FC236}">
                <a16:creationId xmlns:a16="http://schemas.microsoft.com/office/drawing/2014/main" id="{CEDE5C8A-4095-9B8D-4BE0-512B554AA625}"/>
              </a:ext>
            </a:extLst>
          </p:cNvPr>
          <p:cNvSpPr/>
          <p:nvPr/>
        </p:nvSpPr>
        <p:spPr>
          <a:xfrm>
            <a:off x="7301218" y="4198907"/>
            <a:ext cx="2102096" cy="1177002"/>
          </a:xfrm>
          <a:prstGeom prst="roundRect">
            <a:avLst>
              <a:gd name="adj" fmla="val 4132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algn="ctr"/>
            <a:endParaRPr lang="en-US" sz="2400" dirty="0">
              <a:latin typeface="Aptos Display" panose="020B0004020202020204" pitchFamily="34" charset="0"/>
            </a:endParaRPr>
          </a:p>
          <a:p>
            <a:pPr algn="ctr"/>
            <a:r>
              <a:rPr lang="en-US" sz="2400" dirty="0">
                <a:latin typeface="Aptos Display" panose="020B0004020202020204" pitchFamily="34" charset="0"/>
              </a:rPr>
              <a:t>MySQL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BEFCFE0-9D36-699F-4CA1-5D263E2BC54E}"/>
              </a:ext>
            </a:extLst>
          </p:cNvPr>
          <p:cNvSpPr/>
          <p:nvPr/>
        </p:nvSpPr>
        <p:spPr>
          <a:xfrm>
            <a:off x="4398490" y="1753507"/>
            <a:ext cx="5619750" cy="390525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B36836A2-2241-D1FB-96D2-5224337542FC}"/>
              </a:ext>
            </a:extLst>
          </p:cNvPr>
          <p:cNvCxnSpPr/>
          <p:nvPr/>
        </p:nvCxnSpPr>
        <p:spPr>
          <a:xfrm>
            <a:off x="6852047" y="2988390"/>
            <a:ext cx="4000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03288707-E560-C678-58ED-A2059A4D495F}"/>
              </a:ext>
            </a:extLst>
          </p:cNvPr>
          <p:cNvCxnSpPr/>
          <p:nvPr/>
        </p:nvCxnSpPr>
        <p:spPr>
          <a:xfrm>
            <a:off x="8398318" y="3670934"/>
            <a:ext cx="0" cy="4130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1D16F90B-6CCC-2C40-DFA6-AA7BB8734892}"/>
              </a:ext>
            </a:extLst>
          </p:cNvPr>
          <p:cNvCxnSpPr/>
          <p:nvPr/>
        </p:nvCxnSpPr>
        <p:spPr>
          <a:xfrm>
            <a:off x="3794121" y="2801083"/>
            <a:ext cx="4000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2548A71-F416-8D0B-02A2-5779C410461A}"/>
              </a:ext>
            </a:extLst>
          </p:cNvPr>
          <p:cNvSpPr txBox="1"/>
          <p:nvPr/>
        </p:nvSpPr>
        <p:spPr>
          <a:xfrm>
            <a:off x="3576032" y="2365250"/>
            <a:ext cx="9645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</a:t>
            </a:r>
            <a:endParaRPr lang="ru-R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624335-476D-862F-EECE-690FA53143E9}"/>
              </a:ext>
            </a:extLst>
          </p:cNvPr>
          <p:cNvSpPr txBox="1"/>
          <p:nvPr/>
        </p:nvSpPr>
        <p:spPr>
          <a:xfrm>
            <a:off x="4632569" y="1806430"/>
            <a:ext cx="26686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Docker</a:t>
            </a:r>
            <a:r>
              <a:rPr lang="ru-RU" dirty="0"/>
              <a:t> </a:t>
            </a:r>
            <a:r>
              <a:rPr lang="en-US" dirty="0"/>
              <a:t>server</a:t>
            </a:r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C1B41C7-45A7-ECC4-7162-7ECCE0117463}"/>
              </a:ext>
            </a:extLst>
          </p:cNvPr>
          <p:cNvSpPr/>
          <p:nvPr/>
        </p:nvSpPr>
        <p:spPr>
          <a:xfrm>
            <a:off x="-1479899" y="3373425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>
            <a:extLst>
              <a:ext uri="{FF2B5EF4-FFF2-40B4-BE49-F238E27FC236}">
                <a16:creationId xmlns:a16="http://schemas.microsoft.com/office/drawing/2014/main" id="{75F72057-41E8-0206-417B-6A1F7394865F}"/>
              </a:ext>
            </a:extLst>
          </p:cNvPr>
          <p:cNvSpPr/>
          <p:nvPr/>
        </p:nvSpPr>
        <p:spPr>
          <a:xfrm>
            <a:off x="3794121" y="6270500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7749FB07-B97E-20D3-8261-B8EAC488E09A}"/>
              </a:ext>
            </a:extLst>
          </p:cNvPr>
          <p:cNvSpPr/>
          <p:nvPr/>
        </p:nvSpPr>
        <p:spPr>
          <a:xfrm>
            <a:off x="11410950" y="976316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77012E-DF76-EBEA-CD2C-383E2CC03097}"/>
              </a:ext>
            </a:extLst>
          </p:cNvPr>
          <p:cNvSpPr txBox="1"/>
          <p:nvPr/>
        </p:nvSpPr>
        <p:spPr>
          <a:xfrm>
            <a:off x="4676301" y="2595862"/>
            <a:ext cx="2002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ptos Display" panose="020B0004020202020204" pitchFamily="34" charset="0"/>
              </a:rPr>
              <a:t>Nginx reverse proxy</a:t>
            </a:r>
          </a:p>
        </p:txBody>
      </p:sp>
    </p:spTree>
    <p:extLst>
      <p:ext uri="{BB962C8B-B14F-4D97-AF65-F5344CB8AC3E}">
        <p14:creationId xmlns:p14="http://schemas.microsoft.com/office/powerpoint/2010/main" val="21910496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605" y="291072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latin typeface="+mj-lt"/>
              </a:rPr>
              <a:t>ПРЕИМУЩЕСТВА</a:t>
            </a:r>
            <a:endParaRPr lang="en-US" sz="3200" b="1" dirty="0">
              <a:latin typeface="+mj-lt"/>
            </a:endParaRPr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BB242B2E-D742-8095-214A-B6BB250D6203}"/>
              </a:ext>
            </a:extLst>
          </p:cNvPr>
          <p:cNvGrpSpPr/>
          <p:nvPr/>
        </p:nvGrpSpPr>
        <p:grpSpPr>
          <a:xfrm>
            <a:off x="6298653" y="1735923"/>
            <a:ext cx="3254949" cy="1546285"/>
            <a:chOff x="2412753" y="2109123"/>
            <a:chExt cx="8132621" cy="2766244"/>
          </a:xfrm>
          <a:solidFill>
            <a:srgbClr val="92D050"/>
          </a:solidFill>
        </p:grpSpPr>
        <p:sp>
          <p:nvSpPr>
            <p:cNvPr id="29" name="Shape 27"/>
            <p:cNvSpPr/>
            <p:nvPr/>
          </p:nvSpPr>
          <p:spPr>
            <a:xfrm>
              <a:off x="2412753" y="2109123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6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6DBC032-13FF-6847-79DE-D1DB066F3FE9}"/>
                </a:ext>
              </a:extLst>
            </p:cNvPr>
            <p:cNvSpPr txBox="1"/>
            <p:nvPr/>
          </p:nvSpPr>
          <p:spPr>
            <a:xfrm>
              <a:off x="2644812" y="2253392"/>
              <a:ext cx="7587567" cy="247770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800" dirty="0"/>
                <a:t>Личная статистика и рекомендации</a:t>
              </a:r>
            </a:p>
          </p:txBody>
        </p:sp>
      </p:grpSp>
      <p:sp>
        <p:nvSpPr>
          <p:cNvPr id="5" name="Text 34">
            <a:extLst>
              <a:ext uri="{FF2B5EF4-FFF2-40B4-BE49-F238E27FC236}">
                <a16:creationId xmlns:a16="http://schemas.microsoft.com/office/drawing/2014/main" id="{DBB20590-8976-7ED9-D4A3-570F3603457D}"/>
              </a:ext>
            </a:extLst>
          </p:cNvPr>
          <p:cNvSpPr/>
          <p:nvPr/>
        </p:nvSpPr>
        <p:spPr>
          <a:xfrm>
            <a:off x="10668000" y="6234682"/>
            <a:ext cx="1323975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B8B8B8"/>
                </a:solidFill>
                <a:latin typeface="Bahnschrift Light" panose="020B0502040204020203" pitchFamily="34" charset="0"/>
                <a:ea typeface="Aptos" pitchFamily="34" charset="-122"/>
                <a:cs typeface="Aptos" pitchFamily="34" charset="-120"/>
              </a:rPr>
              <a:t>0</a:t>
            </a:r>
            <a:r>
              <a:rPr lang="ru-RU" sz="3600" b="1" dirty="0">
                <a:solidFill>
                  <a:srgbClr val="B8B8B8"/>
                </a:solidFill>
                <a:latin typeface="Bahnschrift Light" panose="020B0502040204020203" pitchFamily="34" charset="0"/>
                <a:ea typeface="Aptos" pitchFamily="34" charset="-122"/>
                <a:cs typeface="Aptos" pitchFamily="34" charset="-120"/>
              </a:rPr>
              <a:t>8</a:t>
            </a:r>
            <a:r>
              <a:rPr lang="en-US" sz="3600" b="1" dirty="0">
                <a:solidFill>
                  <a:srgbClr val="B8B8B8"/>
                </a:solidFill>
                <a:latin typeface="Bahnschrift Light" panose="020B0502040204020203" pitchFamily="34" charset="0"/>
                <a:ea typeface="Aptos" pitchFamily="34" charset="-122"/>
                <a:cs typeface="Aptos" pitchFamily="34" charset="-120"/>
              </a:rPr>
              <a:t>/09</a:t>
            </a:r>
            <a:endParaRPr lang="en-US" sz="3600" dirty="0">
              <a:latin typeface="Bahnschrift Light" panose="020B0502040204020203" pitchFamily="34" charset="0"/>
            </a:endParaRP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4D52CDDF-295C-E77A-5259-7C2580CB2C8D}"/>
              </a:ext>
            </a:extLst>
          </p:cNvPr>
          <p:cNvGrpSpPr/>
          <p:nvPr/>
        </p:nvGrpSpPr>
        <p:grpSpPr>
          <a:xfrm>
            <a:off x="2839310" y="3762631"/>
            <a:ext cx="3254949" cy="1546285"/>
            <a:chOff x="2517702" y="2061014"/>
            <a:chExt cx="8132621" cy="2766244"/>
          </a:xfrm>
          <a:solidFill>
            <a:srgbClr val="00B0F0"/>
          </a:solidFill>
        </p:grpSpPr>
        <p:sp>
          <p:nvSpPr>
            <p:cNvPr id="14" name="Shape 27">
              <a:extLst>
                <a:ext uri="{FF2B5EF4-FFF2-40B4-BE49-F238E27FC236}">
                  <a16:creationId xmlns:a16="http://schemas.microsoft.com/office/drawing/2014/main" id="{03757012-3530-EBCF-374A-CC6F1D1E4ACC}"/>
                </a:ext>
              </a:extLst>
            </p:cNvPr>
            <p:cNvSpPr/>
            <p:nvPr/>
          </p:nvSpPr>
          <p:spPr>
            <a:xfrm>
              <a:off x="2517702" y="2061014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5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030A7BE-D04F-686F-83FA-6DBF7BFA25A2}"/>
                </a:ext>
              </a:extLst>
            </p:cNvPr>
            <p:cNvSpPr txBox="1"/>
            <p:nvPr/>
          </p:nvSpPr>
          <p:spPr>
            <a:xfrm>
              <a:off x="2558171" y="2316107"/>
              <a:ext cx="7841783" cy="247770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800" dirty="0"/>
                <a:t>Автоматизация проверки тестирования</a:t>
              </a:r>
              <a:endParaRPr lang="ru-RU" sz="2800" dirty="0">
                <a:cs typeface="Segoe UI" panose="020B0502040204020203" pitchFamily="34" charset="0"/>
              </a:endParaRPr>
            </a:p>
          </p:txBody>
        </p:sp>
      </p:grp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2A1355C0-E0AC-11EC-478A-07485CCD6AB5}"/>
              </a:ext>
            </a:extLst>
          </p:cNvPr>
          <p:cNvGrpSpPr/>
          <p:nvPr/>
        </p:nvGrpSpPr>
        <p:grpSpPr>
          <a:xfrm>
            <a:off x="2839311" y="2033181"/>
            <a:ext cx="3254949" cy="1546285"/>
            <a:chOff x="2412753" y="2109123"/>
            <a:chExt cx="8132621" cy="2766244"/>
          </a:xfrm>
          <a:solidFill>
            <a:srgbClr val="C00000"/>
          </a:solidFill>
        </p:grpSpPr>
        <p:sp>
          <p:nvSpPr>
            <p:cNvPr id="17" name="Shape 27">
              <a:extLst>
                <a:ext uri="{FF2B5EF4-FFF2-40B4-BE49-F238E27FC236}">
                  <a16:creationId xmlns:a16="http://schemas.microsoft.com/office/drawing/2014/main" id="{2198B90E-D6C3-AA07-A4D1-55184B37A8E0}"/>
                </a:ext>
              </a:extLst>
            </p:cNvPr>
            <p:cNvSpPr/>
            <p:nvPr/>
          </p:nvSpPr>
          <p:spPr>
            <a:xfrm>
              <a:off x="2412753" y="2109123"/>
              <a:ext cx="8132621" cy="2766244"/>
            </a:xfrm>
            <a:prstGeom prst="roundRect">
              <a:avLst>
                <a:gd name="adj" fmla="val 4132"/>
              </a:avLst>
            </a:prstGeom>
            <a:solidFill>
              <a:schemeClr val="accent2"/>
            </a:solidFill>
            <a:ln w="12700">
              <a:solidFill>
                <a:schemeClr val="accent2">
                  <a:lumMod val="50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1174A51-36EC-D02E-D2A8-A9898EB4D590}"/>
                </a:ext>
              </a:extLst>
            </p:cNvPr>
            <p:cNvSpPr txBox="1"/>
            <p:nvPr/>
          </p:nvSpPr>
          <p:spPr>
            <a:xfrm>
              <a:off x="2680457" y="2368860"/>
              <a:ext cx="7624036" cy="247770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800" dirty="0"/>
                <a:t>Различные типы интерактивных заданий</a:t>
              </a:r>
            </a:p>
          </p:txBody>
        </p:sp>
      </p:grp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BCED09E5-FCF2-64A9-56D8-440A52AA40E4}"/>
              </a:ext>
            </a:extLst>
          </p:cNvPr>
          <p:cNvGrpSpPr/>
          <p:nvPr/>
        </p:nvGrpSpPr>
        <p:grpSpPr>
          <a:xfrm>
            <a:off x="6299288" y="3540030"/>
            <a:ext cx="3254949" cy="1546285"/>
            <a:chOff x="2412753" y="2109124"/>
            <a:chExt cx="8132621" cy="2766244"/>
          </a:xfrm>
          <a:solidFill>
            <a:schemeClr val="accent4">
              <a:lumMod val="60000"/>
              <a:lumOff val="40000"/>
            </a:schemeClr>
          </a:solidFill>
        </p:grpSpPr>
        <p:sp>
          <p:nvSpPr>
            <p:cNvPr id="20" name="Shape 27">
              <a:extLst>
                <a:ext uri="{FF2B5EF4-FFF2-40B4-BE49-F238E27FC236}">
                  <a16:creationId xmlns:a16="http://schemas.microsoft.com/office/drawing/2014/main" id="{D3659539-85A4-30E6-419B-86F27988D253}"/>
                </a:ext>
              </a:extLst>
            </p:cNvPr>
            <p:cNvSpPr/>
            <p:nvPr/>
          </p:nvSpPr>
          <p:spPr>
            <a:xfrm>
              <a:off x="2412753" y="2109124"/>
              <a:ext cx="8132621" cy="2766244"/>
            </a:xfrm>
            <a:prstGeom prst="roundRect">
              <a:avLst>
                <a:gd name="adj" fmla="val 4132"/>
              </a:avLst>
            </a:prstGeom>
            <a:grpFill/>
            <a:ln w="12700">
              <a:solidFill>
                <a:schemeClr val="accent4">
                  <a:lumMod val="75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ru-RU" sz="2400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D49495-9638-D7FC-2774-01ABBF106D8C}"/>
                </a:ext>
              </a:extLst>
            </p:cNvPr>
            <p:cNvSpPr txBox="1"/>
            <p:nvPr/>
          </p:nvSpPr>
          <p:spPr>
            <a:xfrm>
              <a:off x="2657323" y="2253389"/>
              <a:ext cx="7437627" cy="247770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800" dirty="0">
                  <a:cs typeface="Segoe UI" panose="020B0502040204020203" pitchFamily="34" charset="0"/>
                </a:rPr>
                <a:t>Систематизация учебных материалов</a:t>
              </a:r>
              <a:endParaRPr lang="ru-RU" sz="2800" dirty="0"/>
            </a:p>
          </p:txBody>
        </p:sp>
      </p:grpSp>
      <p:sp>
        <p:nvSpPr>
          <p:cNvPr id="48" name="Овал 47">
            <a:extLst>
              <a:ext uri="{FF2B5EF4-FFF2-40B4-BE49-F238E27FC236}">
                <a16:creationId xmlns:a16="http://schemas.microsoft.com/office/drawing/2014/main" id="{18649E56-F528-B184-03BC-9F2A0C9D929B}"/>
              </a:ext>
            </a:extLst>
          </p:cNvPr>
          <p:cNvSpPr/>
          <p:nvPr/>
        </p:nvSpPr>
        <p:spPr>
          <a:xfrm>
            <a:off x="11051199" y="1122016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Овал 48">
            <a:extLst>
              <a:ext uri="{FF2B5EF4-FFF2-40B4-BE49-F238E27FC236}">
                <a16:creationId xmlns:a16="http://schemas.microsoft.com/office/drawing/2014/main" id="{47470B9A-A1B9-3A5C-9C74-585DDB95B0F6}"/>
              </a:ext>
            </a:extLst>
          </p:cNvPr>
          <p:cNvSpPr/>
          <p:nvPr/>
        </p:nvSpPr>
        <p:spPr>
          <a:xfrm>
            <a:off x="-1207810" y="2944536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Овал 49">
            <a:extLst>
              <a:ext uri="{FF2B5EF4-FFF2-40B4-BE49-F238E27FC236}">
                <a16:creationId xmlns:a16="http://schemas.microsoft.com/office/drawing/2014/main" id="{9F9F03B7-0FE5-EE72-D08D-A5F0C825E449}"/>
              </a:ext>
            </a:extLst>
          </p:cNvPr>
          <p:cNvSpPr/>
          <p:nvPr/>
        </p:nvSpPr>
        <p:spPr>
          <a:xfrm>
            <a:off x="5831517" y="5824559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81589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FC4A3"/>
          </a:solidFill>
          <a:ln w="12700">
            <a:solidFill>
              <a:srgbClr val="FFC4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1465" y="265177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ptos Display" pitchFamily="34" charset="0"/>
              </a:rPr>
              <a:t>ЗАКЛЮЧЕНИЕ</a:t>
            </a:r>
            <a:endParaRPr lang="en-US" sz="32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9" name="Shape 27"/>
          <p:cNvSpPr/>
          <p:nvPr/>
        </p:nvSpPr>
        <p:spPr>
          <a:xfrm>
            <a:off x="2412753" y="2109123"/>
            <a:ext cx="8132621" cy="2766244"/>
          </a:xfrm>
          <a:prstGeom prst="roundRect">
            <a:avLst>
              <a:gd name="adj" fmla="val 4132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algn="ctr"/>
            <a:endParaRPr lang="ru-RU" sz="2400" dirty="0">
              <a:latin typeface="Aptos Display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DBC032-13FF-6847-79DE-D1DB066F3FE9}"/>
              </a:ext>
            </a:extLst>
          </p:cNvPr>
          <p:cNvSpPr txBox="1"/>
          <p:nvPr/>
        </p:nvSpPr>
        <p:spPr>
          <a:xfrm>
            <a:off x="2601057" y="2581971"/>
            <a:ext cx="775601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/>
              <a:t>Разработанная система обеспечивает изучение правил русского языка, закрепление материала с помощью тестов и контроль результатов обучения в удобном формате.</a:t>
            </a:r>
            <a:endParaRPr lang="ru-RU" sz="2800" dirty="0">
              <a:latin typeface="Aptos Display" panose="020B0004020202020204" pitchFamily="34" charset="0"/>
            </a:endParaRPr>
          </a:p>
        </p:txBody>
      </p:sp>
      <p:sp>
        <p:nvSpPr>
          <p:cNvPr id="5" name="Text 34">
            <a:extLst>
              <a:ext uri="{FF2B5EF4-FFF2-40B4-BE49-F238E27FC236}">
                <a16:creationId xmlns:a16="http://schemas.microsoft.com/office/drawing/2014/main" id="{DBB20590-8976-7ED9-D4A3-570F3603457D}"/>
              </a:ext>
            </a:extLst>
          </p:cNvPr>
          <p:cNvSpPr/>
          <p:nvPr/>
        </p:nvSpPr>
        <p:spPr>
          <a:xfrm>
            <a:off x="10829925" y="6234682"/>
            <a:ext cx="1162050" cy="544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r>
              <a:rPr lang="ru-RU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r>
              <a:rPr lang="en-US" sz="3600" b="1" dirty="0">
                <a:solidFill>
                  <a:srgbClr val="B8B8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/09</a:t>
            </a:r>
            <a:endParaRPr lang="en-US" sz="3600" dirty="0"/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749BCDA6-7284-AD16-A34A-6AEC01090891}"/>
              </a:ext>
            </a:extLst>
          </p:cNvPr>
          <p:cNvSpPr/>
          <p:nvPr/>
        </p:nvSpPr>
        <p:spPr>
          <a:xfrm>
            <a:off x="-1327452" y="1440477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78BE1258-8BCA-F4CE-3219-1EFC0F1FA1F1}"/>
              </a:ext>
            </a:extLst>
          </p:cNvPr>
          <p:cNvSpPr/>
          <p:nvPr/>
        </p:nvSpPr>
        <p:spPr>
          <a:xfrm>
            <a:off x="1451732" y="5476721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4CBD4309-7A47-61DD-83EB-C5E386779FF5}"/>
              </a:ext>
            </a:extLst>
          </p:cNvPr>
          <p:cNvSpPr/>
          <p:nvPr/>
        </p:nvSpPr>
        <p:spPr>
          <a:xfrm>
            <a:off x="11303643" y="2310378"/>
            <a:ext cx="2457450" cy="2457450"/>
          </a:xfrm>
          <a:prstGeom prst="ellipse">
            <a:avLst/>
          </a:prstGeom>
          <a:solidFill>
            <a:srgbClr val="FFC4A3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43398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4A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Овал 31">
            <a:extLst>
              <a:ext uri="{FF2B5EF4-FFF2-40B4-BE49-F238E27FC236}">
                <a16:creationId xmlns:a16="http://schemas.microsoft.com/office/drawing/2014/main" id="{C3CD927C-0D78-6C61-3DA1-D0128CF97D03}"/>
              </a:ext>
            </a:extLst>
          </p:cNvPr>
          <p:cNvSpPr/>
          <p:nvPr/>
        </p:nvSpPr>
        <p:spPr>
          <a:xfrm>
            <a:off x="1028700" y="5937691"/>
            <a:ext cx="2457450" cy="245745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>
            <a:extLst>
              <a:ext uri="{FF2B5EF4-FFF2-40B4-BE49-F238E27FC236}">
                <a16:creationId xmlns:a16="http://schemas.microsoft.com/office/drawing/2014/main" id="{56005B72-5DFD-0EEB-EC2C-30587A94F227}"/>
              </a:ext>
            </a:extLst>
          </p:cNvPr>
          <p:cNvSpPr/>
          <p:nvPr/>
        </p:nvSpPr>
        <p:spPr>
          <a:xfrm>
            <a:off x="-828675" y="-611558"/>
            <a:ext cx="2457450" cy="245745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2053689" y="468534"/>
            <a:ext cx="8084620" cy="1401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600" b="1" dirty="0"/>
              <a:t>ФЕДЕРАЛЬНОЕ ГОСУДАРСТВЕННОЕ БЮДЖЕТНОЕ ОБРАЗОВАТЕЛЬНОЕ УЧРЕЖДЕНИЕ ВЫСШЕГО ОБРАЗОВАНИЯ </a:t>
            </a:r>
            <a:br>
              <a:rPr lang="ru-RU" sz="1600" b="1" dirty="0"/>
            </a:br>
            <a:r>
              <a:rPr lang="ru-RU" sz="1600" b="1" dirty="0"/>
              <a:t>«САНКТ-ПЕТЕРБУРГСКИЙ ГОСУДАРСТВЕННЫЙ УНИВЕРСИТЕТ ТЕЛЕКОММУНИКАЦИЙ ИМ. ПРОФ. М.А. БОНЧ-БРУЕВИЧА» </a:t>
            </a:r>
            <a:br>
              <a:rPr lang="ru-RU" sz="1600" b="1" dirty="0"/>
            </a:br>
            <a:r>
              <a:rPr lang="ru-RU" sz="1600" b="1" dirty="0"/>
              <a:t>(СПбГУТ) </a:t>
            </a:r>
            <a:br>
              <a:rPr lang="ru-RU" sz="1600" b="1" dirty="0"/>
            </a:br>
            <a:br>
              <a:rPr lang="ru-RU" sz="1600" b="1" dirty="0"/>
            </a:br>
            <a:r>
              <a:rPr lang="ru-RU" sz="1600" b="1" dirty="0"/>
              <a:t>АРХАНГЕЛЬСКИЙ КОЛЛЕДЖ ТЕЛЕКОММУНИКАЦИЙ </a:t>
            </a:r>
            <a:br>
              <a:rPr lang="ru-RU" sz="1600" b="1" dirty="0"/>
            </a:br>
            <a:r>
              <a:rPr lang="ru-RU" sz="1600" b="1" dirty="0"/>
              <a:t>ИМ. Б.Л. РОЗИНГА (ФИЛИАЛ) СПбГУТ </a:t>
            </a:r>
            <a:br>
              <a:rPr lang="ru-RU" sz="1600" b="1" dirty="0"/>
            </a:br>
            <a:r>
              <a:rPr lang="ru-RU" sz="1600" b="1" dirty="0"/>
              <a:t>(АКТ (ф) СПбГУТ) </a:t>
            </a:r>
            <a:endParaRPr lang="en-US" sz="16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129A70-40A9-97E6-8158-A8661A658A4D}"/>
              </a:ext>
            </a:extLst>
          </p:cNvPr>
          <p:cNvSpPr txBox="1"/>
          <p:nvPr/>
        </p:nvSpPr>
        <p:spPr>
          <a:xfrm>
            <a:off x="1831648" y="2473076"/>
            <a:ext cx="85287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ea typeface="Verdana" panose="020B0604030504040204" pitchFamily="34" charset="0"/>
              </a:rPr>
              <a:t>ДИПЛОМНЫЙ ПРОЕКТ</a:t>
            </a:r>
            <a:endParaRPr lang="ru-RU" sz="24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08F988-A29F-A789-2B8F-5F13D806E266}"/>
              </a:ext>
            </a:extLst>
          </p:cNvPr>
          <p:cNvSpPr txBox="1"/>
          <p:nvPr/>
        </p:nvSpPr>
        <p:spPr>
          <a:xfrm>
            <a:off x="-1609725" y="3264191"/>
            <a:ext cx="145923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ea typeface="Verdana" panose="020B0604030504040204" pitchFamily="34" charset="0"/>
              </a:rPr>
              <a:t>РАЗРАБОТКА ИНФОРМАЦИОННОЙ СИСТЕМЫ</a:t>
            </a:r>
          </a:p>
          <a:p>
            <a:pPr algn="ctr"/>
            <a:r>
              <a:rPr lang="ru-RU" sz="2400" b="1" dirty="0">
                <a:ea typeface="Verdana" panose="020B0604030504040204" pitchFamily="34" charset="0"/>
              </a:rPr>
              <a:t>ДЛЯ ИЗУЧЕНИЯ ПРАВИЛ РУССКОГО ЯЗЫКА «ГРАММАРИУМ»</a:t>
            </a:r>
            <a:endParaRPr lang="ru-RU" sz="24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6445F3-FE04-ED86-447F-D33A81725C7D}"/>
              </a:ext>
            </a:extLst>
          </p:cNvPr>
          <p:cNvSpPr txBox="1"/>
          <p:nvPr/>
        </p:nvSpPr>
        <p:spPr>
          <a:xfrm>
            <a:off x="299100" y="4672584"/>
            <a:ext cx="62159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ea typeface="Verdana" panose="020B0604030504040204" pitchFamily="34" charset="0"/>
              </a:rPr>
              <a:t>Дипломник </a:t>
            </a:r>
          </a:p>
          <a:p>
            <a:r>
              <a:rPr lang="ru-RU" sz="1600" dirty="0" err="1">
                <a:ea typeface="Verdana" panose="020B0604030504040204" pitchFamily="34" charset="0"/>
              </a:rPr>
              <a:t>Вепрёв</a:t>
            </a:r>
            <a:r>
              <a:rPr lang="ru-RU" sz="1600" dirty="0">
                <a:ea typeface="Verdana" panose="020B0604030504040204" pitchFamily="34" charset="0"/>
              </a:rPr>
              <a:t> Александр Михайлович </a:t>
            </a:r>
            <a:endParaRPr lang="ru-RU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4FFBA4-F36A-A395-8992-3C4F95CECFA7}"/>
              </a:ext>
            </a:extLst>
          </p:cNvPr>
          <p:cNvSpPr txBox="1"/>
          <p:nvPr/>
        </p:nvSpPr>
        <p:spPr>
          <a:xfrm>
            <a:off x="299100" y="5352916"/>
            <a:ext cx="58880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ea typeface="Verdana" panose="020B0604030504040204" pitchFamily="34" charset="0"/>
              </a:rPr>
              <a:t>Дипломный руководитель</a:t>
            </a:r>
          </a:p>
          <a:p>
            <a:r>
              <a:rPr lang="ru-RU" sz="1600" dirty="0">
                <a:ea typeface="Verdana" panose="020B0604030504040204" pitchFamily="34" charset="0"/>
              </a:rPr>
              <a:t>Старостина Вера Валерьевна</a:t>
            </a:r>
            <a:endParaRPr lang="ru-RU" sz="16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C9ECBD-0FBE-9B97-3B54-1F1CB1DDAD32}"/>
              </a:ext>
            </a:extLst>
          </p:cNvPr>
          <p:cNvSpPr txBox="1"/>
          <p:nvPr/>
        </p:nvSpPr>
        <p:spPr>
          <a:xfrm>
            <a:off x="3151975" y="6426436"/>
            <a:ext cx="58880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ea typeface="Verdana" panose="020B0604030504040204" pitchFamily="34" charset="0"/>
              </a:rPr>
              <a:t>Архангельск 2026</a:t>
            </a:r>
            <a:endParaRPr lang="ru-RU" sz="1600" dirty="0"/>
          </a:p>
        </p:txBody>
      </p:sp>
      <p:sp>
        <p:nvSpPr>
          <p:cNvPr id="31" name="Овал 30">
            <a:extLst>
              <a:ext uri="{FF2B5EF4-FFF2-40B4-BE49-F238E27FC236}">
                <a16:creationId xmlns:a16="http://schemas.microsoft.com/office/drawing/2014/main" id="{5AE369CE-41EA-1633-FD0D-238019E1BEAC}"/>
              </a:ext>
            </a:extLst>
          </p:cNvPr>
          <p:cNvSpPr/>
          <p:nvPr/>
        </p:nvSpPr>
        <p:spPr>
          <a:xfrm>
            <a:off x="10963275" y="2604460"/>
            <a:ext cx="2457450" cy="245745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04637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963</TotalTime>
  <Words>281</Words>
  <Application>Microsoft Office PowerPoint</Application>
  <PresentationFormat>Широкоэкранный</PresentationFormat>
  <Paragraphs>70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Bahnschrift Light</vt:lpstr>
      <vt:lpstr>Segoe UI</vt:lpstr>
      <vt:lpstr>Verdana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Граммариум — шаблон презентации</dc:title>
  <dc:subject>Minimal Duolingo-inspired presentation template for Grammarium</dc:subject>
  <dc:creator>OpenAI</dc:creator>
  <cp:lastModifiedBy>Angel Notice</cp:lastModifiedBy>
  <cp:revision>133</cp:revision>
  <dcterms:created xsi:type="dcterms:W3CDTF">2026-05-21T19:48:09Z</dcterms:created>
  <dcterms:modified xsi:type="dcterms:W3CDTF">2026-06-15T03:39:18Z</dcterms:modified>
</cp:coreProperties>
</file>