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0" r:id="rId5"/>
    <p:sldId id="276" r:id="rId6"/>
    <p:sldId id="269" r:id="rId7"/>
    <p:sldId id="275" r:id="rId8"/>
    <p:sldId id="272" r:id="rId9"/>
    <p:sldId id="273" r:id="rId10"/>
    <p:sldId id="27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C4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21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93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4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22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29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999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64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50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86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ЦЕЛЕВАЯ АУДИТОРИЯ</a:t>
            </a:r>
            <a:endParaRPr lang="en-US" sz="3200" b="1" dirty="0"/>
          </a:p>
        </p:txBody>
      </p:sp>
      <p:sp>
        <p:nvSpPr>
          <p:cNvPr id="36" name="Text 34"/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02/09</a:t>
            </a:r>
            <a:endParaRPr lang="en-US" sz="3600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F219A1B-DB23-CEA7-3F5C-64AB41A49F56}"/>
              </a:ext>
            </a:extLst>
          </p:cNvPr>
          <p:cNvSpPr/>
          <p:nvPr/>
        </p:nvSpPr>
        <p:spPr>
          <a:xfrm>
            <a:off x="-1228725" y="2558357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5231A5C-700A-06B4-CB2D-FED2B90EF297}"/>
              </a:ext>
            </a:extLst>
          </p:cNvPr>
          <p:cNvSpPr/>
          <p:nvPr/>
        </p:nvSpPr>
        <p:spPr>
          <a:xfrm>
            <a:off x="4539763" y="5716524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6483E92B-4707-A4DD-215C-33A35B475F29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AC212671-FED1-90A4-3B63-20198A23A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7646" y="2196732"/>
            <a:ext cx="4153654" cy="3415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7754BA-8740-3DD2-E245-C6042FA99E0D}"/>
              </a:ext>
            </a:extLst>
          </p:cNvPr>
          <p:cNvSpPr txBox="1"/>
          <p:nvPr/>
        </p:nvSpPr>
        <p:spPr>
          <a:xfrm>
            <a:off x="902228" y="1195741"/>
            <a:ext cx="4573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 Студенты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D50CE0-F4D2-0820-B22B-CC3B8212ABAE}"/>
              </a:ext>
            </a:extLst>
          </p:cNvPr>
          <p:cNvSpPr txBox="1"/>
          <p:nvPr/>
        </p:nvSpPr>
        <p:spPr>
          <a:xfrm>
            <a:off x="6423514" y="1014984"/>
            <a:ext cx="3803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Преподаватели русского языка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4F9485E-CF47-51CD-E7EE-73C549D14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3817" y="2197491"/>
            <a:ext cx="3153132" cy="315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АКТУАЛЬНОСТЬ</a:t>
            </a:r>
            <a:endParaRPr lang="en-US" sz="3200" b="1" dirty="0"/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879D2725-CFAF-EF32-0C84-50D3E4D96774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03/09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5DC5FAF-37AB-2F5C-F232-13D590F633E3}"/>
              </a:ext>
            </a:extLst>
          </p:cNvPr>
          <p:cNvGrpSpPr/>
          <p:nvPr/>
        </p:nvGrpSpPr>
        <p:grpSpPr>
          <a:xfrm>
            <a:off x="363114" y="1602221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6" name="Shape 27">
              <a:extLst>
                <a:ext uri="{FF2B5EF4-FFF2-40B4-BE49-F238E27FC236}">
                  <a16:creationId xmlns:a16="http://schemas.microsoft.com/office/drawing/2014/main" id="{817E654C-38E2-DD9D-F4FE-6DCE320CC62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81B27A-5FD1-DB4A-A578-6E11C916EBE1}"/>
                </a:ext>
              </a:extLst>
            </p:cNvPr>
            <p:cNvSpPr txBox="1"/>
            <p:nvPr/>
          </p:nvSpPr>
          <p:spPr>
            <a:xfrm>
              <a:off x="2837399" y="2658070"/>
              <a:ext cx="7535175" cy="298644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систематизация учебных материалов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557495E-21CF-7B13-6065-667C3B079C74}"/>
              </a:ext>
            </a:extLst>
          </p:cNvPr>
          <p:cNvGrpSpPr/>
          <p:nvPr/>
        </p:nvGrpSpPr>
        <p:grpSpPr>
          <a:xfrm>
            <a:off x="6408314" y="1602222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C90931A6-572A-98CD-DAC2-36ADCA95B6F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078496D-C88C-662F-3C43-FD6832C26373}"/>
                </a:ext>
              </a:extLst>
            </p:cNvPr>
            <p:cNvSpPr txBox="1"/>
            <p:nvPr/>
          </p:nvSpPr>
          <p:spPr>
            <a:xfrm>
              <a:off x="2837399" y="3194176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закрепление правил на практике</a:t>
              </a:r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EDC985BA-2CFB-3079-E9C9-BCA9317188B3}"/>
              </a:ext>
            </a:extLst>
          </p:cNvPr>
          <p:cNvGrpSpPr/>
          <p:nvPr/>
        </p:nvGrpSpPr>
        <p:grpSpPr>
          <a:xfrm>
            <a:off x="363113" y="4514937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Shape 27">
              <a:extLst>
                <a:ext uri="{FF2B5EF4-FFF2-40B4-BE49-F238E27FC236}">
                  <a16:creationId xmlns:a16="http://schemas.microsoft.com/office/drawing/2014/main" id="{040DA31B-E3F2-606F-5726-1D6AC1936529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0555EE-DCC9-9A4D-C10A-C884982A4322}"/>
                </a:ext>
              </a:extLst>
            </p:cNvPr>
            <p:cNvSpPr txBox="1"/>
            <p:nvPr/>
          </p:nvSpPr>
          <p:spPr>
            <a:xfrm>
              <a:off x="2837399" y="3093887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автоматизация проверки знаний</a:t>
              </a:r>
            </a:p>
          </p:txBody>
        </p:sp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6E0BC681-005D-9921-BA2D-5688A0B27841}"/>
              </a:ext>
            </a:extLst>
          </p:cNvPr>
          <p:cNvGrpSpPr/>
          <p:nvPr/>
        </p:nvGrpSpPr>
        <p:grpSpPr>
          <a:xfrm>
            <a:off x="6408314" y="4514936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16F24CAC-E9B8-3851-E4C8-29D3A67BAC64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A94FE77-B0AE-4CF0-CA74-3ED6D4D21846}"/>
                </a:ext>
              </a:extLst>
            </p:cNvPr>
            <p:cNvSpPr txBox="1"/>
            <p:nvPr/>
          </p:nvSpPr>
          <p:spPr>
            <a:xfrm>
              <a:off x="2708520" y="3279033"/>
              <a:ext cx="7959822" cy="165913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контроль результатов тестирования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569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ЦЕЛЬ</a:t>
            </a:r>
            <a:endParaRPr lang="en-US" sz="3200" b="1" dirty="0"/>
          </a:p>
        </p:txBody>
      </p:sp>
      <p:sp>
        <p:nvSpPr>
          <p:cNvPr id="29" name="Shape 27"/>
          <p:cNvSpPr/>
          <p:nvPr/>
        </p:nvSpPr>
        <p:spPr>
          <a:xfrm>
            <a:off x="2630566" y="2571982"/>
            <a:ext cx="7696991" cy="1714036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3255837" y="3034413"/>
            <a:ext cx="64464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0" i="0" dirty="0">
                <a:effectLst/>
                <a:latin typeface="Aptos Display" panose="020B0004020202020204" pitchFamily="34" charset="0"/>
              </a:rPr>
              <a:t>Разработать информационную систему «</a:t>
            </a:r>
            <a:r>
              <a:rPr lang="ru-RU" sz="2800" b="0" i="0" dirty="0" err="1">
                <a:effectLst/>
                <a:latin typeface="Aptos Display" panose="020B0004020202020204" pitchFamily="34" charset="0"/>
              </a:rPr>
              <a:t>Граммариум</a:t>
            </a:r>
            <a:r>
              <a:rPr lang="ru-RU" sz="2800" b="0" i="0" dirty="0">
                <a:effectLst/>
                <a:latin typeface="Aptos Display" panose="020B0004020202020204" pitchFamily="34" charset="0"/>
              </a:rPr>
              <a:t>»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0ED3D34-292B-3423-2DF1-5D4065216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587" y="1998012"/>
            <a:ext cx="1147940" cy="1147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57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ЗАДАЧИ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4707256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616925"/>
              <a:ext cx="7587566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Проектирование и реализация БД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5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4707256" y="3967346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0" y="2915914"/>
              <a:ext cx="7841784" cy="9725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Тестирование</a:t>
              </a: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1372532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8" y="2238993"/>
              <a:ext cx="762403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Анализ предметной области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1373187" y="3963517"/>
            <a:ext cx="2764067" cy="1313088"/>
            <a:chOff x="2412753" y="210912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524728"/>
              <a:ext cx="7437628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Разграничение прав доступа</a:t>
              </a:r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535590" y="143131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731162" y="2734792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6242598" y="5994334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1E22920-077E-2DF7-F936-7DCD9B8E8549}"/>
              </a:ext>
            </a:extLst>
          </p:cNvPr>
          <p:cNvGrpSpPr/>
          <p:nvPr/>
        </p:nvGrpSpPr>
        <p:grpSpPr>
          <a:xfrm>
            <a:off x="8054748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8" name="Shape 27">
              <a:extLst>
                <a:ext uri="{FF2B5EF4-FFF2-40B4-BE49-F238E27FC236}">
                  <a16:creationId xmlns:a16="http://schemas.microsoft.com/office/drawing/2014/main" id="{2691AAE2-5EF3-144F-872B-11335AF8E727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3CB00-B53E-C75F-9777-17DDAA2D7E98}"/>
                </a:ext>
              </a:extLst>
            </p:cNvPr>
            <p:cNvSpPr txBox="1"/>
            <p:nvPr/>
          </p:nvSpPr>
          <p:spPr>
            <a:xfrm>
              <a:off x="2644812" y="2253392"/>
              <a:ext cx="758756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Разработка программных модулей</a:t>
              </a: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0EA139DE-A598-3AE9-DDCE-3519ADBF8B38}"/>
              </a:ext>
            </a:extLst>
          </p:cNvPr>
          <p:cNvGrpSpPr/>
          <p:nvPr/>
        </p:nvGrpSpPr>
        <p:grpSpPr>
          <a:xfrm>
            <a:off x="8054748" y="3964033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1" name="Shape 27">
              <a:extLst>
                <a:ext uri="{FF2B5EF4-FFF2-40B4-BE49-F238E27FC236}">
                  <a16:creationId xmlns:a16="http://schemas.microsoft.com/office/drawing/2014/main" id="{5D8DAA24-237B-B3DC-2162-F4A655367CF2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80E9E9-14B5-A656-8174-F4275B0DD80C}"/>
                </a:ext>
              </a:extLst>
            </p:cNvPr>
            <p:cNvSpPr txBox="1"/>
            <p:nvPr/>
          </p:nvSpPr>
          <p:spPr>
            <a:xfrm>
              <a:off x="2622650" y="2443389"/>
              <a:ext cx="7841784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Разработка документации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8375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СРЕДСТВА РАЗРАБОТКИ</a:t>
            </a:r>
            <a:endParaRPr lang="en-US" sz="3200" b="1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8ECF82E-64CE-643A-0976-F146D933F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025" y="3863193"/>
            <a:ext cx="2580370" cy="258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icture background">
            <a:extLst>
              <a:ext uri="{FF2B5EF4-FFF2-40B4-BE49-F238E27FC236}">
                <a16:creationId xmlns:a16="http://schemas.microsoft.com/office/drawing/2014/main" id="{F10A99DF-7C2C-C780-371F-50A4708E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70" y="1417212"/>
            <a:ext cx="1577595" cy="157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Picture background">
            <a:extLst>
              <a:ext uri="{FF2B5EF4-FFF2-40B4-BE49-F238E27FC236}">
                <a16:creationId xmlns:a16="http://schemas.microsoft.com/office/drawing/2014/main" id="{5CE82100-007E-CA0C-8954-7964AD4C7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1" y="1227181"/>
            <a:ext cx="1943761" cy="194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A97BC06F-87AA-B3CF-77DE-EDA262A08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2" y="4217222"/>
            <a:ext cx="1943760" cy="1943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Picture background">
            <a:extLst>
              <a:ext uri="{FF2B5EF4-FFF2-40B4-BE49-F238E27FC236}">
                <a16:creationId xmlns:a16="http://schemas.microsoft.com/office/drawing/2014/main" id="{27BEA4CD-E81F-9A04-6F34-B77487BE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7370" y="4188734"/>
            <a:ext cx="2891683" cy="187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Picture background">
            <a:extLst>
              <a:ext uri="{FF2B5EF4-FFF2-40B4-BE49-F238E27FC236}">
                <a16:creationId xmlns:a16="http://schemas.microsoft.com/office/drawing/2014/main" id="{80AB193E-4782-0A44-66B0-675DFD1A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4" y="1135449"/>
            <a:ext cx="3618653" cy="2035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Picture background">
            <a:extLst>
              <a:ext uri="{FF2B5EF4-FFF2-40B4-BE49-F238E27FC236}">
                <a16:creationId xmlns:a16="http://schemas.microsoft.com/office/drawing/2014/main" id="{B3ED6586-F69D-1F54-306B-09DDDCBE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20" y="4170871"/>
            <a:ext cx="3052861" cy="190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23560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АРХИТЕКТУРА СИСТЕМЫ</a:t>
            </a:r>
            <a:endParaRPr lang="en-US" sz="3200" b="1" dirty="0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  <p:sp>
        <p:nvSpPr>
          <p:cNvPr id="5" name="Shape 27">
            <a:extLst>
              <a:ext uri="{FF2B5EF4-FFF2-40B4-BE49-F238E27FC236}">
                <a16:creationId xmlns:a16="http://schemas.microsoft.com/office/drawing/2014/main" id="{CD2C0E00-4A0E-4E35-E369-7D09F31C69A7}"/>
              </a:ext>
            </a:extLst>
          </p:cNvPr>
          <p:cNvSpPr/>
          <p:nvPr/>
        </p:nvSpPr>
        <p:spPr>
          <a:xfrm>
            <a:off x="1350363" y="2383730"/>
            <a:ext cx="2102096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r>
              <a:rPr lang="ru-RU" sz="2400" dirty="0">
                <a:latin typeface="Aptos Display" panose="020B0004020202020204" pitchFamily="34" charset="0"/>
              </a:rPr>
              <a:t>Клиент </a:t>
            </a:r>
          </a:p>
          <a:p>
            <a:pPr algn="ctr"/>
            <a:r>
              <a:rPr lang="ru-RU" sz="2400" dirty="0">
                <a:latin typeface="Aptos Display" panose="020B0004020202020204" pitchFamily="34" charset="0"/>
              </a:rPr>
              <a:t>(веб-браузер)</a:t>
            </a:r>
          </a:p>
        </p:txBody>
      </p:sp>
      <p:sp>
        <p:nvSpPr>
          <p:cNvPr id="6" name="Shape 27">
            <a:extLst>
              <a:ext uri="{FF2B5EF4-FFF2-40B4-BE49-F238E27FC236}">
                <a16:creationId xmlns:a16="http://schemas.microsoft.com/office/drawing/2014/main" id="{6DAD1E28-80AF-2FF7-16C2-9DB047F237AA}"/>
              </a:ext>
            </a:extLst>
          </p:cNvPr>
          <p:cNvSpPr/>
          <p:nvPr/>
        </p:nvSpPr>
        <p:spPr>
          <a:xfrm>
            <a:off x="7534175" y="2365250"/>
            <a:ext cx="2194201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en-US" sz="2400" dirty="0">
              <a:latin typeface="Aptos Display" panose="020B0004020202020204" pitchFamily="34" charset="0"/>
            </a:endParaRPr>
          </a:p>
        </p:txBody>
      </p:sp>
      <p:sp>
        <p:nvSpPr>
          <p:cNvPr id="7" name="Shape 27">
            <a:extLst>
              <a:ext uri="{FF2B5EF4-FFF2-40B4-BE49-F238E27FC236}">
                <a16:creationId xmlns:a16="http://schemas.microsoft.com/office/drawing/2014/main" id="{9D16E606-51A4-0206-FCE2-A7F398CEA2D7}"/>
              </a:ext>
            </a:extLst>
          </p:cNvPr>
          <p:cNvSpPr/>
          <p:nvPr/>
        </p:nvSpPr>
        <p:spPr>
          <a:xfrm>
            <a:off x="4632569" y="2383730"/>
            <a:ext cx="2102096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en-US" sz="2400" dirty="0">
              <a:latin typeface="Aptos Display" panose="020B0004020202020204" pitchFamily="34" charset="0"/>
            </a:endParaRPr>
          </a:p>
        </p:txBody>
      </p:sp>
      <p:sp>
        <p:nvSpPr>
          <p:cNvPr id="8" name="Shape 27">
            <a:extLst>
              <a:ext uri="{FF2B5EF4-FFF2-40B4-BE49-F238E27FC236}">
                <a16:creationId xmlns:a16="http://schemas.microsoft.com/office/drawing/2014/main" id="{CEDE5C8A-4095-9B8D-4BE0-512B554AA625}"/>
              </a:ext>
            </a:extLst>
          </p:cNvPr>
          <p:cNvSpPr/>
          <p:nvPr/>
        </p:nvSpPr>
        <p:spPr>
          <a:xfrm>
            <a:off x="7534175" y="4137221"/>
            <a:ext cx="2194201" cy="1228573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en-US" sz="2400" dirty="0">
              <a:latin typeface="Aptos Display" panose="020B0004020202020204" pitchFamily="34" charset="0"/>
            </a:endParaRPr>
          </a:p>
          <a:p>
            <a:pPr algn="ctr"/>
            <a:r>
              <a:rPr lang="en-US" sz="2400" dirty="0">
                <a:latin typeface="Aptos Display" panose="020B0004020202020204" pitchFamily="34" charset="0"/>
              </a:rPr>
              <a:t>MySQL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EFCFE0-9D36-699F-4CA1-5D263E2BC54E}"/>
              </a:ext>
            </a:extLst>
          </p:cNvPr>
          <p:cNvSpPr/>
          <p:nvPr/>
        </p:nvSpPr>
        <p:spPr>
          <a:xfrm>
            <a:off x="4398490" y="1753507"/>
            <a:ext cx="5619750" cy="390525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36836A2-2241-D1FB-96D2-5224337542FC}"/>
              </a:ext>
            </a:extLst>
          </p:cNvPr>
          <p:cNvCxnSpPr/>
          <p:nvPr/>
        </p:nvCxnSpPr>
        <p:spPr>
          <a:xfrm>
            <a:off x="6975872" y="2988390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03288707-E560-C678-58ED-A2059A4D495F}"/>
              </a:ext>
            </a:extLst>
          </p:cNvPr>
          <p:cNvCxnSpPr/>
          <p:nvPr/>
        </p:nvCxnSpPr>
        <p:spPr>
          <a:xfrm>
            <a:off x="8631275" y="3652454"/>
            <a:ext cx="0" cy="413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1D16F90B-6CCC-2C40-DFA6-AA7BB8734892}"/>
              </a:ext>
            </a:extLst>
          </p:cNvPr>
          <p:cNvCxnSpPr/>
          <p:nvPr/>
        </p:nvCxnSpPr>
        <p:spPr>
          <a:xfrm>
            <a:off x="3794121" y="2801083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2548A71-F416-8D0B-02A2-5779C410461A}"/>
              </a:ext>
            </a:extLst>
          </p:cNvPr>
          <p:cNvSpPr txBox="1"/>
          <p:nvPr/>
        </p:nvSpPr>
        <p:spPr>
          <a:xfrm>
            <a:off x="3576032" y="2365250"/>
            <a:ext cx="964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624335-476D-862F-EECE-690FA53143E9}"/>
              </a:ext>
            </a:extLst>
          </p:cNvPr>
          <p:cNvSpPr txBox="1"/>
          <p:nvPr/>
        </p:nvSpPr>
        <p:spPr>
          <a:xfrm>
            <a:off x="4632569" y="1806430"/>
            <a:ext cx="2668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Docker</a:t>
            </a:r>
            <a:r>
              <a:rPr lang="ru-RU" dirty="0"/>
              <a:t> </a:t>
            </a:r>
            <a:r>
              <a:rPr lang="en-US" dirty="0"/>
              <a:t>server</a:t>
            </a:r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C1B41C7-45A7-ECC4-7162-7ECCE0117463}"/>
              </a:ext>
            </a:extLst>
          </p:cNvPr>
          <p:cNvSpPr/>
          <p:nvPr/>
        </p:nvSpPr>
        <p:spPr>
          <a:xfrm>
            <a:off x="-1479899" y="3373425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5F72057-41E8-0206-417B-6A1F7394865F}"/>
              </a:ext>
            </a:extLst>
          </p:cNvPr>
          <p:cNvSpPr/>
          <p:nvPr/>
        </p:nvSpPr>
        <p:spPr>
          <a:xfrm>
            <a:off x="3794121" y="627050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7749FB07-B97E-20D3-8261-B8EAC488E09A}"/>
              </a:ext>
            </a:extLst>
          </p:cNvPr>
          <p:cNvSpPr/>
          <p:nvPr/>
        </p:nvSpPr>
        <p:spPr>
          <a:xfrm>
            <a:off x="11410950" y="97631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77012E-DF76-EBEA-CD2C-383E2CC03097}"/>
              </a:ext>
            </a:extLst>
          </p:cNvPr>
          <p:cNvSpPr txBox="1"/>
          <p:nvPr/>
        </p:nvSpPr>
        <p:spPr>
          <a:xfrm>
            <a:off x="4676301" y="2595862"/>
            <a:ext cx="2002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ptos Display" panose="020B0004020202020204" pitchFamily="34" charset="0"/>
              </a:rPr>
              <a:t>Nginx reverse proxy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33FB6-9743-CFA5-3A35-953EAF8B2E0D}"/>
              </a:ext>
            </a:extLst>
          </p:cNvPr>
          <p:cNvSpPr txBox="1"/>
          <p:nvPr/>
        </p:nvSpPr>
        <p:spPr>
          <a:xfrm>
            <a:off x="7617023" y="2502369"/>
            <a:ext cx="20285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ptos Display" panose="020B0004020202020204" pitchFamily="34" charset="0"/>
              </a:rPr>
              <a:t>Flask-</a:t>
            </a:r>
            <a:r>
              <a:rPr lang="ru-RU" sz="2400" dirty="0">
                <a:latin typeface="Aptos Display" panose="020B0004020202020204" pitchFamily="34" charset="0"/>
              </a:rPr>
              <a:t>приложение</a:t>
            </a:r>
            <a:endParaRPr lang="en-US" sz="2400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1049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ПРЕИМУЩЕСТВА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6298653" y="1735923"/>
            <a:ext cx="3254949" cy="1546285"/>
            <a:chOff x="2412753" y="2109123"/>
            <a:chExt cx="8132621" cy="2766244"/>
          </a:xfrm>
          <a:solidFill>
            <a:srgbClr val="92D050"/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253392"/>
              <a:ext cx="7587567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Личная статистика и рекомендации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2839310" y="3762631"/>
            <a:ext cx="3254949" cy="1546285"/>
            <a:chOff x="2517702" y="2061014"/>
            <a:chExt cx="8132621" cy="2766244"/>
          </a:xfrm>
          <a:solidFill>
            <a:srgbClr val="00B0F0"/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5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1" y="2316107"/>
              <a:ext cx="7841783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Автоматизация проверки тестирования</a:t>
              </a:r>
              <a:endParaRPr lang="ru-RU" sz="2800" dirty="0">
                <a:cs typeface="Segoe UI" panose="020B0502040204020203" pitchFamily="34" charset="0"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2839311" y="2033181"/>
            <a:ext cx="3254949" cy="1546285"/>
            <a:chOff x="2412753" y="2109123"/>
            <a:chExt cx="8132621" cy="2766244"/>
          </a:xfrm>
          <a:solidFill>
            <a:srgbClr val="C00000"/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solidFill>
              <a:schemeClr val="accent2"/>
            </a:solidFill>
            <a:ln w="12700">
              <a:solidFill>
                <a:schemeClr val="accent2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7" y="2368860"/>
              <a:ext cx="7624036" cy="247770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Различные типы интерактивных заданий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6299288" y="3540030"/>
            <a:ext cx="3254949" cy="1546285"/>
            <a:chOff x="2412753" y="2109124"/>
            <a:chExt cx="8132621" cy="2766244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4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253389"/>
              <a:ext cx="7437627" cy="247770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>
                  <a:cs typeface="Segoe UI" panose="020B0502040204020203" pitchFamily="34" charset="0"/>
                </a:rPr>
                <a:t>Систематизация учебных материалов</a:t>
              </a:r>
              <a:endParaRPr lang="ru-RU" sz="2800" dirty="0"/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207810" y="2944536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5831517" y="5824559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8158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 pitchFamily="34" charset="0"/>
              </a:rPr>
              <a:t>ЗАКЛЮЧЕНИЕ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412753" y="2109123"/>
            <a:ext cx="8132621" cy="2766244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2506904" y="2521059"/>
            <a:ext cx="79443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Разработанная система позволяет изучать правила русского языка, закреплять материал с помощью тестов и контролировать результаты тестирования студентов в удобном формате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749BCDA6-7284-AD16-A34A-6AEC01090891}"/>
              </a:ext>
            </a:extLst>
          </p:cNvPr>
          <p:cNvSpPr/>
          <p:nvPr/>
        </p:nvSpPr>
        <p:spPr>
          <a:xfrm>
            <a:off x="-1535859" y="2521059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78BE1258-8BCA-F4CE-3219-1EFC0F1FA1F1}"/>
              </a:ext>
            </a:extLst>
          </p:cNvPr>
          <p:cNvSpPr/>
          <p:nvPr/>
        </p:nvSpPr>
        <p:spPr>
          <a:xfrm>
            <a:off x="2863215" y="5857721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CBD4309-7A47-61DD-83EB-C5E386779FF5}"/>
              </a:ext>
            </a:extLst>
          </p:cNvPr>
          <p:cNvSpPr/>
          <p:nvPr/>
        </p:nvSpPr>
        <p:spPr>
          <a:xfrm>
            <a:off x="11163300" y="1034795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33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463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281</Words>
  <Application>Microsoft Office PowerPoint</Application>
  <PresentationFormat>Широкоэкранный</PresentationFormat>
  <Paragraphs>70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Bahnschrift Light</vt:lpstr>
      <vt:lpstr>Segoe UI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Граммариум — шаблон презентации</dc:title>
  <dc:subject>Minimal Duolingo-inspired presentation template for Grammarium</dc:subject>
  <dc:creator>OpenAI</dc:creator>
  <cp:lastModifiedBy>Angel Notice</cp:lastModifiedBy>
  <cp:revision>149</cp:revision>
  <dcterms:created xsi:type="dcterms:W3CDTF">2026-05-21T19:48:09Z</dcterms:created>
  <dcterms:modified xsi:type="dcterms:W3CDTF">2026-06-15T04:31:40Z</dcterms:modified>
</cp:coreProperties>
</file>