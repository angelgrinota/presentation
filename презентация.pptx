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1" r:id="rId4"/>
    <p:sldId id="270" r:id="rId5"/>
    <p:sldId id="276" r:id="rId6"/>
    <p:sldId id="269" r:id="rId7"/>
    <p:sldId id="272" r:id="rId8"/>
    <p:sldId id="273" r:id="rId9"/>
    <p:sldId id="27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C4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3558" y="1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221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93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64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22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29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864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15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46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C4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Овал 31">
            <a:extLst>
              <a:ext uri="{FF2B5EF4-FFF2-40B4-BE49-F238E27FC236}">
                <a16:creationId xmlns:a16="http://schemas.microsoft.com/office/drawing/2014/main" id="{C3CD927C-0D78-6C61-3DA1-D0128CF97D03}"/>
              </a:ext>
            </a:extLst>
          </p:cNvPr>
          <p:cNvSpPr/>
          <p:nvPr/>
        </p:nvSpPr>
        <p:spPr>
          <a:xfrm>
            <a:off x="1028700" y="5937691"/>
            <a:ext cx="2457450" cy="24574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56005B72-5DFD-0EEB-EC2C-30587A94F227}"/>
              </a:ext>
            </a:extLst>
          </p:cNvPr>
          <p:cNvSpPr/>
          <p:nvPr/>
        </p:nvSpPr>
        <p:spPr>
          <a:xfrm>
            <a:off x="-828675" y="-611558"/>
            <a:ext cx="2457450" cy="24574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053689" y="468534"/>
            <a:ext cx="8084620" cy="140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dirty="0"/>
              <a:t>ФЕДЕРАЛЬНОЕ ГОСУДАРСТВЕННОЕ БЮДЖЕТНОЕ ОБРАЗОВАТЕЛЬНОЕ УЧРЕЖДЕНИЕ ВЫСШЕГО ОБРАЗОВАНИЯ </a:t>
            </a:r>
            <a:br>
              <a:rPr lang="ru-RU" sz="1600" b="1" dirty="0"/>
            </a:br>
            <a:r>
              <a:rPr lang="ru-RU" sz="1600" b="1" dirty="0"/>
              <a:t>«САНКТ-ПЕТЕРБУРГСКИЙ ГОСУДАРСТВЕННЫЙ УНИВЕРСИТЕТ ТЕЛЕКОММУНИКАЦИЙ ИМ. ПРОФ. М.А. БОНЧ-БРУЕВИЧА» </a:t>
            </a:r>
            <a:br>
              <a:rPr lang="ru-RU" sz="1600" b="1" dirty="0"/>
            </a:br>
            <a:r>
              <a:rPr lang="ru-RU" sz="1600" b="1" dirty="0"/>
              <a:t>(СПбГУТ) </a:t>
            </a:r>
            <a:br>
              <a:rPr lang="ru-RU" sz="1600" b="1" dirty="0"/>
            </a:br>
            <a:br>
              <a:rPr lang="ru-RU" sz="1600" b="1" dirty="0"/>
            </a:br>
            <a:r>
              <a:rPr lang="ru-RU" sz="1600" b="1" dirty="0"/>
              <a:t>АРХАНГЕЛЬСКИЙ КОЛЛЕДЖ ТЕЛЕКОММУНИКАЦИЙ </a:t>
            </a:r>
            <a:br>
              <a:rPr lang="ru-RU" sz="1600" b="1" dirty="0"/>
            </a:br>
            <a:r>
              <a:rPr lang="ru-RU" sz="1600" b="1" dirty="0"/>
              <a:t>ИМ. Б.Л. РОЗИНГА (ФИЛИАЛ) СПбГУТ </a:t>
            </a:r>
            <a:br>
              <a:rPr lang="ru-RU" sz="1600" b="1" dirty="0"/>
            </a:br>
            <a:r>
              <a:rPr lang="ru-RU" sz="1600" b="1" dirty="0"/>
              <a:t>(АКТ (ф) СПбГУТ) </a:t>
            </a:r>
            <a:endParaRPr lang="en-US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29A70-40A9-97E6-8158-A8661A658A4D}"/>
              </a:ext>
            </a:extLst>
          </p:cNvPr>
          <p:cNvSpPr txBox="1"/>
          <p:nvPr/>
        </p:nvSpPr>
        <p:spPr>
          <a:xfrm>
            <a:off x="1831648" y="2473076"/>
            <a:ext cx="8528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ea typeface="Verdana" panose="020B0604030504040204" pitchFamily="34" charset="0"/>
              </a:rPr>
              <a:t>ДИПЛОМНЫЙ ПРОЕКТ</a:t>
            </a:r>
            <a:endParaRPr lang="ru-RU" sz="2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8F988-A29F-A789-2B8F-5F13D806E266}"/>
              </a:ext>
            </a:extLst>
          </p:cNvPr>
          <p:cNvSpPr txBox="1"/>
          <p:nvPr/>
        </p:nvSpPr>
        <p:spPr>
          <a:xfrm>
            <a:off x="1508789" y="3264191"/>
            <a:ext cx="93567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ea typeface="Verdana" panose="020B0604030504040204" pitchFamily="34" charset="0"/>
              </a:rPr>
              <a:t>РАЗРАБОТКА ИНФОРМАЦИОННОЙ СИСТЕМЫ</a:t>
            </a:r>
          </a:p>
          <a:p>
            <a:pPr algn="ctr"/>
            <a:r>
              <a:rPr lang="ru-RU" sz="2400" b="1" dirty="0">
                <a:ea typeface="Verdana" panose="020B0604030504040204" pitchFamily="34" charset="0"/>
              </a:rPr>
              <a:t>ДЛЯ ИЗУЧЕНИЯ ПРАВИЛ РУССКОГО ЯЗЫКА «ГРАММАРИУМ»</a:t>
            </a:r>
            <a:endParaRPr lang="ru-RU" sz="24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6445F3-FE04-ED86-447F-D33A81725C7D}"/>
              </a:ext>
            </a:extLst>
          </p:cNvPr>
          <p:cNvSpPr txBox="1"/>
          <p:nvPr/>
        </p:nvSpPr>
        <p:spPr>
          <a:xfrm>
            <a:off x="299100" y="4571236"/>
            <a:ext cx="621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ea typeface="Verdana" panose="020B0604030504040204" pitchFamily="34" charset="0"/>
              </a:rPr>
              <a:t>Дипломник </a:t>
            </a:r>
          </a:p>
          <a:p>
            <a:r>
              <a:rPr lang="ru-RU" dirty="0" err="1">
                <a:ea typeface="Verdana" panose="020B0604030504040204" pitchFamily="34" charset="0"/>
              </a:rPr>
              <a:t>Вепрёв</a:t>
            </a:r>
            <a:r>
              <a:rPr lang="ru-RU" dirty="0">
                <a:ea typeface="Verdana" panose="020B0604030504040204" pitchFamily="34" charset="0"/>
              </a:rPr>
              <a:t> Александр Михайлович 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4FFBA4-F36A-A395-8992-3C4F95CECFA7}"/>
              </a:ext>
            </a:extLst>
          </p:cNvPr>
          <p:cNvSpPr txBox="1"/>
          <p:nvPr/>
        </p:nvSpPr>
        <p:spPr>
          <a:xfrm>
            <a:off x="299100" y="5291360"/>
            <a:ext cx="5888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ea typeface="Verdana" panose="020B0604030504040204" pitchFamily="34" charset="0"/>
              </a:rPr>
              <a:t>Дипломный руководитель</a:t>
            </a:r>
          </a:p>
          <a:p>
            <a:r>
              <a:rPr lang="ru-RU" dirty="0">
                <a:ea typeface="Verdana" panose="020B0604030504040204" pitchFamily="34" charset="0"/>
              </a:rPr>
              <a:t>Старостина Вера Валерьевна</a:t>
            </a:r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C9ECBD-0FBE-9B97-3B54-1F1CB1DDAD32}"/>
              </a:ext>
            </a:extLst>
          </p:cNvPr>
          <p:cNvSpPr txBox="1"/>
          <p:nvPr/>
        </p:nvSpPr>
        <p:spPr>
          <a:xfrm>
            <a:off x="3151975" y="6426436"/>
            <a:ext cx="5888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ea typeface="Verdana" panose="020B0604030504040204" pitchFamily="34" charset="0"/>
              </a:rPr>
              <a:t>Архангельск 2026</a:t>
            </a:r>
            <a:endParaRPr lang="ru-RU" sz="1600" dirty="0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5AE369CE-41EA-1633-FD0D-238019E1BEAC}"/>
              </a:ext>
            </a:extLst>
          </p:cNvPr>
          <p:cNvSpPr/>
          <p:nvPr/>
        </p:nvSpPr>
        <p:spPr>
          <a:xfrm>
            <a:off x="10963275" y="2604460"/>
            <a:ext cx="2457450" cy="24574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C4A3"/>
          </a:solidFill>
          <a:ln w="12700">
            <a:solidFill>
              <a:srgbClr val="FFC4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6435" y="26517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b="1" dirty="0">
                <a:latin typeface="Aptos Display" pitchFamily="34" charset="0"/>
              </a:rPr>
              <a:t>ЦЕЛЕВАЯ АУДИТОРИЯ</a:t>
            </a:r>
            <a:endParaRPr lang="en-US" sz="3200" b="1" dirty="0"/>
          </a:p>
        </p:txBody>
      </p:sp>
      <p:sp>
        <p:nvSpPr>
          <p:cNvPr id="36" name="Text 34"/>
          <p:cNvSpPr/>
          <p:nvPr/>
        </p:nvSpPr>
        <p:spPr>
          <a:xfrm>
            <a:off x="10829925" y="6234682"/>
            <a:ext cx="1162050" cy="544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02/0</a:t>
            </a:r>
            <a:r>
              <a:rPr lang="ru-RU" sz="3600" b="1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60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EF219A1B-DB23-CEA7-3F5C-64AB41A49F56}"/>
              </a:ext>
            </a:extLst>
          </p:cNvPr>
          <p:cNvSpPr/>
          <p:nvPr/>
        </p:nvSpPr>
        <p:spPr>
          <a:xfrm>
            <a:off x="-1555222" y="2676397"/>
            <a:ext cx="2457450" cy="24574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B5231A5C-700A-06B4-CB2D-FED2B90EF297}"/>
              </a:ext>
            </a:extLst>
          </p:cNvPr>
          <p:cNvSpPr/>
          <p:nvPr/>
        </p:nvSpPr>
        <p:spPr>
          <a:xfrm>
            <a:off x="4846949" y="5767598"/>
            <a:ext cx="2457450" cy="24574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6483E92B-4707-A4DD-215C-33A35B475F29}"/>
              </a:ext>
            </a:extLst>
          </p:cNvPr>
          <p:cNvSpPr/>
          <p:nvPr/>
        </p:nvSpPr>
        <p:spPr>
          <a:xfrm>
            <a:off x="11410950" y="1432366"/>
            <a:ext cx="2457450" cy="24574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7754BA-8740-3DD2-E245-C6042FA99E0D}"/>
              </a:ext>
            </a:extLst>
          </p:cNvPr>
          <p:cNvSpPr txBox="1"/>
          <p:nvPr/>
        </p:nvSpPr>
        <p:spPr>
          <a:xfrm>
            <a:off x="902228" y="1195741"/>
            <a:ext cx="45734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/>
              <a:t> Студенты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D50CE0-F4D2-0820-B22B-CC3B8212ABAE}"/>
              </a:ext>
            </a:extLst>
          </p:cNvPr>
          <p:cNvSpPr txBox="1"/>
          <p:nvPr/>
        </p:nvSpPr>
        <p:spPr>
          <a:xfrm>
            <a:off x="5891022" y="1030477"/>
            <a:ext cx="457340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/>
              <a:t>Преподаватели русского языка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4F9485E-CF47-51CD-E7EE-73C549D14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46191" y="-1720766"/>
            <a:ext cx="3153132" cy="315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Изображение пина-истории">
            <a:extLst>
              <a:ext uri="{FF2B5EF4-FFF2-40B4-BE49-F238E27FC236}">
                <a16:creationId xmlns:a16="http://schemas.microsoft.com/office/drawing/2014/main" id="{2AA17070-3350-FE8E-A570-F80A93B8D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704" y="2313250"/>
            <a:ext cx="3153132" cy="315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66F52A69-2CC6-521C-3A21-9998C5A97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979" y="2107695"/>
            <a:ext cx="3763905" cy="356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C4A3"/>
          </a:solidFill>
          <a:ln w="12700">
            <a:solidFill>
              <a:srgbClr val="FFC4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6435" y="26517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АКТУАЛЬНОСТЬ</a:t>
            </a:r>
            <a:endParaRPr lang="en-US" sz="3200" b="1" dirty="0"/>
          </a:p>
        </p:txBody>
      </p:sp>
      <p:sp>
        <p:nvSpPr>
          <p:cNvPr id="5" name="Text 34">
            <a:extLst>
              <a:ext uri="{FF2B5EF4-FFF2-40B4-BE49-F238E27FC236}">
                <a16:creationId xmlns:a16="http://schemas.microsoft.com/office/drawing/2014/main" id="{879D2725-CFAF-EF32-0C84-50D3E4D96774}"/>
              </a:ext>
            </a:extLst>
          </p:cNvPr>
          <p:cNvSpPr/>
          <p:nvPr/>
        </p:nvSpPr>
        <p:spPr>
          <a:xfrm>
            <a:off x="10829925" y="6234682"/>
            <a:ext cx="1162050" cy="544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03/0</a:t>
            </a:r>
            <a:r>
              <a:rPr lang="ru-RU" sz="3600" b="1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600" dirty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5DC5FAF-37AB-2F5C-F232-13D590F633E3}"/>
              </a:ext>
            </a:extLst>
          </p:cNvPr>
          <p:cNvGrpSpPr/>
          <p:nvPr/>
        </p:nvGrpSpPr>
        <p:grpSpPr>
          <a:xfrm>
            <a:off x="363114" y="1823139"/>
            <a:ext cx="5420572" cy="1112737"/>
            <a:chOff x="2412754" y="2109123"/>
            <a:chExt cx="8384467" cy="3998961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6" name="Shape 27">
              <a:extLst>
                <a:ext uri="{FF2B5EF4-FFF2-40B4-BE49-F238E27FC236}">
                  <a16:creationId xmlns:a16="http://schemas.microsoft.com/office/drawing/2014/main" id="{817E654C-38E2-DD9D-F4FE-6DCE320CC62B}"/>
                </a:ext>
              </a:extLst>
            </p:cNvPr>
            <p:cNvSpPr/>
            <p:nvPr/>
          </p:nvSpPr>
          <p:spPr>
            <a:xfrm>
              <a:off x="2412754" y="2109123"/>
              <a:ext cx="8384467" cy="3998961"/>
            </a:xfrm>
            <a:prstGeom prst="roundRect">
              <a:avLst>
                <a:gd name="adj" fmla="val 4132"/>
              </a:avLst>
            </a:prstGeom>
            <a:grpFill/>
            <a:ln w="1270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pPr algn="ctr"/>
              <a:endParaRPr lang="ru-RU" sz="24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781B27A-5FD1-DB4A-A578-6E11C916EBE1}"/>
                </a:ext>
              </a:extLst>
            </p:cNvPr>
            <p:cNvSpPr txBox="1"/>
            <p:nvPr/>
          </p:nvSpPr>
          <p:spPr>
            <a:xfrm>
              <a:off x="2837399" y="2658070"/>
              <a:ext cx="7535175" cy="298644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/>
                <a:t>систематизация учебных материалов</a:t>
              </a: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557495E-21CF-7B13-6065-667C3B079C74}"/>
              </a:ext>
            </a:extLst>
          </p:cNvPr>
          <p:cNvGrpSpPr/>
          <p:nvPr/>
        </p:nvGrpSpPr>
        <p:grpSpPr>
          <a:xfrm>
            <a:off x="6408314" y="1823140"/>
            <a:ext cx="5420572" cy="1112737"/>
            <a:chOff x="2412754" y="2109123"/>
            <a:chExt cx="8384467" cy="3998961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0" name="Shape 27">
              <a:extLst>
                <a:ext uri="{FF2B5EF4-FFF2-40B4-BE49-F238E27FC236}">
                  <a16:creationId xmlns:a16="http://schemas.microsoft.com/office/drawing/2014/main" id="{C90931A6-572A-98CD-DAC2-36ADCA95B6FB}"/>
                </a:ext>
              </a:extLst>
            </p:cNvPr>
            <p:cNvSpPr/>
            <p:nvPr/>
          </p:nvSpPr>
          <p:spPr>
            <a:xfrm>
              <a:off x="2412754" y="2109123"/>
              <a:ext cx="8384467" cy="3998961"/>
            </a:xfrm>
            <a:prstGeom prst="roundRect">
              <a:avLst>
                <a:gd name="adj" fmla="val 4132"/>
              </a:avLst>
            </a:prstGeom>
            <a:grpFill/>
            <a:ln w="1270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pPr algn="ctr"/>
              <a:endParaRPr lang="ru-RU" sz="24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078496D-C88C-662F-3C43-FD6832C26373}"/>
                </a:ext>
              </a:extLst>
            </p:cNvPr>
            <p:cNvSpPr txBox="1"/>
            <p:nvPr/>
          </p:nvSpPr>
          <p:spPr>
            <a:xfrm>
              <a:off x="2837399" y="3194176"/>
              <a:ext cx="7535175" cy="165913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/>
                <a:t>закрепление правил на практике</a:t>
              </a:r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EDC985BA-2CFB-3079-E9C9-BCA9317188B3}"/>
              </a:ext>
            </a:extLst>
          </p:cNvPr>
          <p:cNvGrpSpPr/>
          <p:nvPr/>
        </p:nvGrpSpPr>
        <p:grpSpPr>
          <a:xfrm>
            <a:off x="363113" y="4284103"/>
            <a:ext cx="5420572" cy="1112737"/>
            <a:chOff x="2412754" y="2109123"/>
            <a:chExt cx="8384467" cy="3998961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3" name="Shape 27">
              <a:extLst>
                <a:ext uri="{FF2B5EF4-FFF2-40B4-BE49-F238E27FC236}">
                  <a16:creationId xmlns:a16="http://schemas.microsoft.com/office/drawing/2014/main" id="{040DA31B-E3F2-606F-5726-1D6AC1936529}"/>
                </a:ext>
              </a:extLst>
            </p:cNvPr>
            <p:cNvSpPr/>
            <p:nvPr/>
          </p:nvSpPr>
          <p:spPr>
            <a:xfrm>
              <a:off x="2412754" y="2109123"/>
              <a:ext cx="8384467" cy="3998961"/>
            </a:xfrm>
            <a:prstGeom prst="roundRect">
              <a:avLst>
                <a:gd name="adj" fmla="val 4132"/>
              </a:avLst>
            </a:prstGeom>
            <a:grpFill/>
            <a:ln w="1270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pPr algn="ctr"/>
              <a:endParaRPr lang="ru-RU" sz="2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A0555EE-DCC9-9A4D-C10A-C884982A4322}"/>
                </a:ext>
              </a:extLst>
            </p:cNvPr>
            <p:cNvSpPr txBox="1"/>
            <p:nvPr/>
          </p:nvSpPr>
          <p:spPr>
            <a:xfrm>
              <a:off x="2837399" y="3093887"/>
              <a:ext cx="7535175" cy="165913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/>
                <a:t>автоматизация проверки знаний</a:t>
              </a: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6E0BC681-005D-9921-BA2D-5688A0B27841}"/>
              </a:ext>
            </a:extLst>
          </p:cNvPr>
          <p:cNvGrpSpPr/>
          <p:nvPr/>
        </p:nvGrpSpPr>
        <p:grpSpPr>
          <a:xfrm>
            <a:off x="6408314" y="4284102"/>
            <a:ext cx="5420572" cy="1112737"/>
            <a:chOff x="2412754" y="2109123"/>
            <a:chExt cx="8384467" cy="3998961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6" name="Shape 27">
              <a:extLst>
                <a:ext uri="{FF2B5EF4-FFF2-40B4-BE49-F238E27FC236}">
                  <a16:creationId xmlns:a16="http://schemas.microsoft.com/office/drawing/2014/main" id="{16F24CAC-E9B8-3851-E4C8-29D3A67BAC64}"/>
                </a:ext>
              </a:extLst>
            </p:cNvPr>
            <p:cNvSpPr/>
            <p:nvPr/>
          </p:nvSpPr>
          <p:spPr>
            <a:xfrm>
              <a:off x="2412754" y="2109123"/>
              <a:ext cx="8384467" cy="3998961"/>
            </a:xfrm>
            <a:prstGeom prst="roundRect">
              <a:avLst>
                <a:gd name="adj" fmla="val 4132"/>
              </a:avLst>
            </a:prstGeom>
            <a:grpFill/>
            <a:ln w="1270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pPr algn="ctr"/>
              <a:endParaRPr lang="ru-RU" sz="24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A94FE77-B0AE-4CF0-CA74-3ED6D4D21846}"/>
                </a:ext>
              </a:extLst>
            </p:cNvPr>
            <p:cNvSpPr txBox="1"/>
            <p:nvPr/>
          </p:nvSpPr>
          <p:spPr>
            <a:xfrm>
              <a:off x="2708520" y="3279033"/>
              <a:ext cx="7959822" cy="165913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/>
                <a:t>контроль результатов тестирования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9569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C4A3"/>
          </a:solidFill>
          <a:ln w="12700">
            <a:solidFill>
              <a:srgbClr val="FFC4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6565" y="26517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b="1" dirty="0">
                <a:latin typeface="Aptos Display" pitchFamily="34" charset="0"/>
              </a:rPr>
              <a:t>ЦЕЛЬ</a:t>
            </a:r>
            <a:endParaRPr lang="en-US" sz="3200" b="1" dirty="0"/>
          </a:p>
        </p:txBody>
      </p:sp>
      <p:sp>
        <p:nvSpPr>
          <p:cNvPr id="29" name="Shape 27"/>
          <p:cNvSpPr/>
          <p:nvPr/>
        </p:nvSpPr>
        <p:spPr>
          <a:xfrm>
            <a:off x="1945969" y="1878371"/>
            <a:ext cx="8300062" cy="3589058"/>
          </a:xfrm>
          <a:prstGeom prst="roundRect">
            <a:avLst>
              <a:gd name="adj" fmla="val 4132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algn="ctr"/>
            <a:endParaRPr lang="ru-RU" sz="2400" dirty="0"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BC032-13FF-6847-79DE-D1DB066F3FE9}"/>
              </a:ext>
            </a:extLst>
          </p:cNvPr>
          <p:cNvSpPr txBox="1"/>
          <p:nvPr/>
        </p:nvSpPr>
        <p:spPr>
          <a:xfrm>
            <a:off x="1993955" y="2365138"/>
            <a:ext cx="7912473" cy="2615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ctr">
              <a:lnSpc>
                <a:spcPct val="150000"/>
              </a:lnSpc>
            </a:pPr>
            <a:r>
              <a:rPr lang="ru-RU" sz="2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Разработка информационной системы «</a:t>
            </a:r>
            <a:r>
              <a:rPr lang="ru-RU" sz="28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Граммариум</a:t>
            </a:r>
            <a:r>
              <a:rPr lang="ru-RU" sz="2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», предназначенной для изучения правил русского языка, прохождения тестов и контроля успеваемости студентов</a:t>
            </a:r>
          </a:p>
        </p:txBody>
      </p:sp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A0ED3D34-292B-3423-2DF1-5D4065216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2111" y="1620117"/>
            <a:ext cx="1147940" cy="1147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34">
            <a:extLst>
              <a:ext uri="{FF2B5EF4-FFF2-40B4-BE49-F238E27FC236}">
                <a16:creationId xmlns:a16="http://schemas.microsoft.com/office/drawing/2014/main" id="{DBB20590-8976-7ED9-D4A3-570F3603457D}"/>
              </a:ext>
            </a:extLst>
          </p:cNvPr>
          <p:cNvSpPr/>
          <p:nvPr/>
        </p:nvSpPr>
        <p:spPr>
          <a:xfrm>
            <a:off x="10829925" y="6234682"/>
            <a:ext cx="1162050" cy="544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r>
              <a:rPr lang="ru-RU" sz="3600" b="1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r>
              <a:rPr lang="en-US" sz="3600" b="1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/0</a:t>
            </a:r>
            <a:r>
              <a:rPr lang="ru-RU" sz="3600" b="1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3576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C4A3"/>
          </a:solidFill>
          <a:ln w="12700">
            <a:solidFill>
              <a:srgbClr val="FFC4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605" y="2910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b="1" dirty="0">
                <a:latin typeface="+mj-lt"/>
              </a:rPr>
              <a:t>ЗАДАЧИ</a:t>
            </a:r>
            <a:endParaRPr lang="en-US" sz="3200" b="1" dirty="0">
              <a:latin typeface="+mj-lt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BB242B2E-D742-8095-214A-B6BB250D6203}"/>
              </a:ext>
            </a:extLst>
          </p:cNvPr>
          <p:cNvGrpSpPr/>
          <p:nvPr/>
        </p:nvGrpSpPr>
        <p:grpSpPr>
          <a:xfrm>
            <a:off x="4707256" y="1694851"/>
            <a:ext cx="2764067" cy="1313088"/>
            <a:chOff x="2412753" y="2109123"/>
            <a:chExt cx="8132621" cy="2766244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9" name="Shape 27"/>
            <p:cNvSpPr/>
            <p:nvPr/>
          </p:nvSpPr>
          <p:spPr>
            <a:xfrm>
              <a:off x="2412753" y="2109123"/>
              <a:ext cx="8132621" cy="2766244"/>
            </a:xfrm>
            <a:prstGeom prst="roundRect">
              <a:avLst>
                <a:gd name="adj" fmla="val 4132"/>
              </a:avLst>
            </a:prstGeom>
            <a:grpFill/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pPr algn="ctr"/>
              <a:endParaRPr lang="ru-RU" sz="24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6DBC032-13FF-6847-79DE-D1DB066F3FE9}"/>
                </a:ext>
              </a:extLst>
            </p:cNvPr>
            <p:cNvSpPr txBox="1"/>
            <p:nvPr/>
          </p:nvSpPr>
          <p:spPr>
            <a:xfrm>
              <a:off x="2644812" y="2616925"/>
              <a:ext cx="7587566" cy="175063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/>
                <a:t>Проектирование и реализация БД</a:t>
              </a:r>
            </a:p>
          </p:txBody>
        </p:sp>
      </p:grpSp>
      <p:sp>
        <p:nvSpPr>
          <p:cNvPr id="5" name="Text 34">
            <a:extLst>
              <a:ext uri="{FF2B5EF4-FFF2-40B4-BE49-F238E27FC236}">
                <a16:creationId xmlns:a16="http://schemas.microsoft.com/office/drawing/2014/main" id="{DBB20590-8976-7ED9-D4A3-570F3603457D}"/>
              </a:ext>
            </a:extLst>
          </p:cNvPr>
          <p:cNvSpPr/>
          <p:nvPr/>
        </p:nvSpPr>
        <p:spPr>
          <a:xfrm>
            <a:off x="10668000" y="6234682"/>
            <a:ext cx="1323975" cy="544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B8B8B8"/>
                </a:solidFill>
                <a:ea typeface="Aptos" pitchFamily="34" charset="-122"/>
                <a:cs typeface="Aptos" pitchFamily="34" charset="-120"/>
              </a:rPr>
              <a:t>0</a:t>
            </a:r>
            <a:r>
              <a:rPr lang="ru-RU" sz="3600" b="1" dirty="0">
                <a:solidFill>
                  <a:srgbClr val="B8B8B8"/>
                </a:solidFill>
                <a:ea typeface="Aptos" pitchFamily="34" charset="-122"/>
                <a:cs typeface="Aptos" pitchFamily="34" charset="-120"/>
              </a:rPr>
              <a:t>5</a:t>
            </a:r>
            <a:r>
              <a:rPr lang="en-US" sz="3600" b="1" dirty="0">
                <a:solidFill>
                  <a:srgbClr val="B8B8B8"/>
                </a:solidFill>
                <a:ea typeface="Aptos" pitchFamily="34" charset="-122"/>
                <a:cs typeface="Aptos" pitchFamily="34" charset="-120"/>
              </a:rPr>
              <a:t>/0</a:t>
            </a:r>
            <a:r>
              <a:rPr lang="ru-RU" sz="3600" b="1" dirty="0">
                <a:solidFill>
                  <a:srgbClr val="B8B8B8"/>
                </a:solidFill>
                <a:ea typeface="Aptos" pitchFamily="34" charset="-122"/>
                <a:cs typeface="Aptos" pitchFamily="34" charset="-120"/>
              </a:rPr>
              <a:t>8</a:t>
            </a:r>
            <a:endParaRPr lang="en-US" sz="3600" dirty="0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D52CDDF-295C-E77A-5259-7C2580CB2C8D}"/>
              </a:ext>
            </a:extLst>
          </p:cNvPr>
          <p:cNvGrpSpPr/>
          <p:nvPr/>
        </p:nvGrpSpPr>
        <p:grpSpPr>
          <a:xfrm>
            <a:off x="4707256" y="3967346"/>
            <a:ext cx="2764067" cy="1313088"/>
            <a:chOff x="2517702" y="2061014"/>
            <a:chExt cx="8132621" cy="2766244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4" name="Shape 27">
              <a:extLst>
                <a:ext uri="{FF2B5EF4-FFF2-40B4-BE49-F238E27FC236}">
                  <a16:creationId xmlns:a16="http://schemas.microsoft.com/office/drawing/2014/main" id="{03757012-3530-EBCF-374A-CC6F1D1E4ACC}"/>
                </a:ext>
              </a:extLst>
            </p:cNvPr>
            <p:cNvSpPr/>
            <p:nvPr/>
          </p:nvSpPr>
          <p:spPr>
            <a:xfrm>
              <a:off x="2517702" y="2061014"/>
              <a:ext cx="8132621" cy="2766244"/>
            </a:xfrm>
            <a:prstGeom prst="roundRect">
              <a:avLst>
                <a:gd name="adj" fmla="val 4132"/>
              </a:avLst>
            </a:prstGeom>
            <a:grpFill/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pPr algn="ctr"/>
              <a:endParaRPr lang="ru-RU" sz="2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030A7BE-D04F-686F-83FA-6DBF7BFA25A2}"/>
                </a:ext>
              </a:extLst>
            </p:cNvPr>
            <p:cNvSpPr txBox="1"/>
            <p:nvPr/>
          </p:nvSpPr>
          <p:spPr>
            <a:xfrm>
              <a:off x="2558170" y="2915914"/>
              <a:ext cx="7841784" cy="97257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cs typeface="Segoe UI" panose="020B0502040204020203" pitchFamily="34" charset="0"/>
                </a:rPr>
                <a:t>Тестирование</a:t>
              </a: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2A1355C0-E0AC-11EC-478A-07485CCD6AB5}"/>
              </a:ext>
            </a:extLst>
          </p:cNvPr>
          <p:cNvGrpSpPr/>
          <p:nvPr/>
        </p:nvGrpSpPr>
        <p:grpSpPr>
          <a:xfrm>
            <a:off x="1372532" y="1694851"/>
            <a:ext cx="2764067" cy="1313088"/>
            <a:chOff x="2412753" y="2109123"/>
            <a:chExt cx="8132621" cy="2766244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7" name="Shape 27">
              <a:extLst>
                <a:ext uri="{FF2B5EF4-FFF2-40B4-BE49-F238E27FC236}">
                  <a16:creationId xmlns:a16="http://schemas.microsoft.com/office/drawing/2014/main" id="{2198B90E-D6C3-AA07-A4D1-55184B37A8E0}"/>
                </a:ext>
              </a:extLst>
            </p:cNvPr>
            <p:cNvSpPr/>
            <p:nvPr/>
          </p:nvSpPr>
          <p:spPr>
            <a:xfrm>
              <a:off x="2412753" y="2109123"/>
              <a:ext cx="8132621" cy="2766244"/>
            </a:xfrm>
            <a:prstGeom prst="roundRect">
              <a:avLst>
                <a:gd name="adj" fmla="val 4132"/>
              </a:avLst>
            </a:prstGeom>
            <a:grpFill/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pPr algn="ctr"/>
              <a:endParaRPr lang="ru-RU" sz="24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1174A51-36EC-D02E-D2A8-A9898EB4D590}"/>
                </a:ext>
              </a:extLst>
            </p:cNvPr>
            <p:cNvSpPr txBox="1"/>
            <p:nvPr/>
          </p:nvSpPr>
          <p:spPr>
            <a:xfrm>
              <a:off x="2680458" y="2238993"/>
              <a:ext cx="7624036" cy="2528698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/>
                <a:t>Анализ предметной области</a:t>
              </a: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BCED09E5-FCF2-64A9-56D8-440A52AA40E4}"/>
              </a:ext>
            </a:extLst>
          </p:cNvPr>
          <p:cNvGrpSpPr/>
          <p:nvPr/>
        </p:nvGrpSpPr>
        <p:grpSpPr>
          <a:xfrm>
            <a:off x="1373187" y="3963517"/>
            <a:ext cx="2764067" cy="1313088"/>
            <a:chOff x="2412753" y="2109124"/>
            <a:chExt cx="8132621" cy="2766244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0" name="Shape 27">
              <a:extLst>
                <a:ext uri="{FF2B5EF4-FFF2-40B4-BE49-F238E27FC236}">
                  <a16:creationId xmlns:a16="http://schemas.microsoft.com/office/drawing/2014/main" id="{D3659539-85A4-30E6-419B-86F27988D253}"/>
                </a:ext>
              </a:extLst>
            </p:cNvPr>
            <p:cNvSpPr/>
            <p:nvPr/>
          </p:nvSpPr>
          <p:spPr>
            <a:xfrm>
              <a:off x="2412753" y="2109124"/>
              <a:ext cx="8132621" cy="2766244"/>
            </a:xfrm>
            <a:prstGeom prst="roundRect">
              <a:avLst>
                <a:gd name="adj" fmla="val 4132"/>
              </a:avLst>
            </a:prstGeom>
            <a:grpFill/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pPr algn="ctr"/>
              <a:endParaRPr lang="ru-RU" sz="24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D49495-9638-D7FC-2774-01ABBF106D8C}"/>
                </a:ext>
              </a:extLst>
            </p:cNvPr>
            <p:cNvSpPr txBox="1"/>
            <p:nvPr/>
          </p:nvSpPr>
          <p:spPr>
            <a:xfrm>
              <a:off x="2657323" y="2524728"/>
              <a:ext cx="7437628" cy="175063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/>
                <a:t>Разграничение прав доступа</a:t>
              </a:r>
            </a:p>
          </p:txBody>
        </p:sp>
      </p:grpSp>
      <p:sp>
        <p:nvSpPr>
          <p:cNvPr id="48" name="Овал 47">
            <a:extLst>
              <a:ext uri="{FF2B5EF4-FFF2-40B4-BE49-F238E27FC236}">
                <a16:creationId xmlns:a16="http://schemas.microsoft.com/office/drawing/2014/main" id="{18649E56-F528-B184-03BC-9F2A0C9D929B}"/>
              </a:ext>
            </a:extLst>
          </p:cNvPr>
          <p:cNvSpPr/>
          <p:nvPr/>
        </p:nvSpPr>
        <p:spPr>
          <a:xfrm>
            <a:off x="11535590" y="1431310"/>
            <a:ext cx="2457450" cy="2457450"/>
          </a:xfrm>
          <a:prstGeom prst="ellipse">
            <a:avLst/>
          </a:prstGeom>
          <a:solidFill>
            <a:srgbClr val="FFC4A3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47470B9A-A1B9-3A5C-9C74-585DDB95B0F6}"/>
              </a:ext>
            </a:extLst>
          </p:cNvPr>
          <p:cNvSpPr/>
          <p:nvPr/>
        </p:nvSpPr>
        <p:spPr>
          <a:xfrm>
            <a:off x="-1731162" y="2734792"/>
            <a:ext cx="2457450" cy="2457450"/>
          </a:xfrm>
          <a:prstGeom prst="ellipse">
            <a:avLst/>
          </a:prstGeom>
          <a:solidFill>
            <a:srgbClr val="FFC4A3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Овал 49">
            <a:extLst>
              <a:ext uri="{FF2B5EF4-FFF2-40B4-BE49-F238E27FC236}">
                <a16:creationId xmlns:a16="http://schemas.microsoft.com/office/drawing/2014/main" id="{9F9F03B7-0FE5-EE72-D08D-A5F0C825E449}"/>
              </a:ext>
            </a:extLst>
          </p:cNvPr>
          <p:cNvSpPr/>
          <p:nvPr/>
        </p:nvSpPr>
        <p:spPr>
          <a:xfrm>
            <a:off x="6242598" y="5994334"/>
            <a:ext cx="2457450" cy="2457450"/>
          </a:xfrm>
          <a:prstGeom prst="ellipse">
            <a:avLst/>
          </a:prstGeom>
          <a:solidFill>
            <a:srgbClr val="FFC4A3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51E22920-077E-2DF7-F936-7DCD9B8E8549}"/>
              </a:ext>
            </a:extLst>
          </p:cNvPr>
          <p:cNvGrpSpPr/>
          <p:nvPr/>
        </p:nvGrpSpPr>
        <p:grpSpPr>
          <a:xfrm>
            <a:off x="8054748" y="1694851"/>
            <a:ext cx="2764067" cy="1313088"/>
            <a:chOff x="2412753" y="2109123"/>
            <a:chExt cx="8132621" cy="2766244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8" name="Shape 27">
              <a:extLst>
                <a:ext uri="{FF2B5EF4-FFF2-40B4-BE49-F238E27FC236}">
                  <a16:creationId xmlns:a16="http://schemas.microsoft.com/office/drawing/2014/main" id="{2691AAE2-5EF3-144F-872B-11335AF8E727}"/>
                </a:ext>
              </a:extLst>
            </p:cNvPr>
            <p:cNvSpPr/>
            <p:nvPr/>
          </p:nvSpPr>
          <p:spPr>
            <a:xfrm>
              <a:off x="2412753" y="2109123"/>
              <a:ext cx="8132621" cy="2766244"/>
            </a:xfrm>
            <a:prstGeom prst="roundRect">
              <a:avLst>
                <a:gd name="adj" fmla="val 4132"/>
              </a:avLst>
            </a:prstGeom>
            <a:grpFill/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pPr algn="ctr"/>
              <a:endParaRPr lang="ru-RU" sz="2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63CB00-B53E-C75F-9777-17DDAA2D7E98}"/>
                </a:ext>
              </a:extLst>
            </p:cNvPr>
            <p:cNvSpPr txBox="1"/>
            <p:nvPr/>
          </p:nvSpPr>
          <p:spPr>
            <a:xfrm>
              <a:off x="2644812" y="2253392"/>
              <a:ext cx="7587566" cy="2528698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/>
                <a:t>Разработка программных модулей</a:t>
              </a: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0EA139DE-A598-3AE9-DDCE-3519ADBF8B38}"/>
              </a:ext>
            </a:extLst>
          </p:cNvPr>
          <p:cNvGrpSpPr/>
          <p:nvPr/>
        </p:nvGrpSpPr>
        <p:grpSpPr>
          <a:xfrm>
            <a:off x="8054748" y="3964033"/>
            <a:ext cx="2764067" cy="1313088"/>
            <a:chOff x="2517702" y="2061014"/>
            <a:chExt cx="8132621" cy="2766244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1" name="Shape 27">
              <a:extLst>
                <a:ext uri="{FF2B5EF4-FFF2-40B4-BE49-F238E27FC236}">
                  <a16:creationId xmlns:a16="http://schemas.microsoft.com/office/drawing/2014/main" id="{5D8DAA24-237B-B3DC-2162-F4A655367CF2}"/>
                </a:ext>
              </a:extLst>
            </p:cNvPr>
            <p:cNvSpPr/>
            <p:nvPr/>
          </p:nvSpPr>
          <p:spPr>
            <a:xfrm>
              <a:off x="2517702" y="2061014"/>
              <a:ext cx="8132621" cy="2766244"/>
            </a:xfrm>
            <a:prstGeom prst="roundRect">
              <a:avLst>
                <a:gd name="adj" fmla="val 4132"/>
              </a:avLst>
            </a:prstGeom>
            <a:grpFill/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pPr algn="ctr"/>
              <a:endParaRPr lang="ru-RU" sz="2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80E9E9-14B5-A656-8174-F4275B0DD80C}"/>
                </a:ext>
              </a:extLst>
            </p:cNvPr>
            <p:cNvSpPr txBox="1"/>
            <p:nvPr/>
          </p:nvSpPr>
          <p:spPr>
            <a:xfrm>
              <a:off x="2622650" y="2443389"/>
              <a:ext cx="7841784" cy="175063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cs typeface="Segoe UI" panose="020B0502040204020203" pitchFamily="34" charset="0"/>
                </a:rPr>
                <a:t>Разработка документации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8375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C4A3"/>
          </a:solidFill>
          <a:ln w="12700">
            <a:solidFill>
              <a:srgbClr val="FFC4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1465" y="265177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b="1" dirty="0">
                <a:latin typeface="Aptos Display" pitchFamily="34" charset="0"/>
              </a:rPr>
              <a:t>СРЕДСТВА РАЗРАБОТКИ</a:t>
            </a:r>
            <a:endParaRPr lang="en-US" sz="3200" b="1" dirty="0"/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68ECF82E-64CE-643A-0976-F146D933F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3863193"/>
            <a:ext cx="2580370" cy="258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Picture background">
            <a:extLst>
              <a:ext uri="{FF2B5EF4-FFF2-40B4-BE49-F238E27FC236}">
                <a16:creationId xmlns:a16="http://schemas.microsoft.com/office/drawing/2014/main" id="{F10A99DF-7C2C-C780-371F-50A4708E3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470" y="1417212"/>
            <a:ext cx="1577595" cy="157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icture background">
            <a:extLst>
              <a:ext uri="{FF2B5EF4-FFF2-40B4-BE49-F238E27FC236}">
                <a16:creationId xmlns:a16="http://schemas.microsoft.com/office/drawing/2014/main" id="{5CE82100-007E-CA0C-8954-7964AD4C7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851" y="1227181"/>
            <a:ext cx="1943761" cy="1943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Picture background">
            <a:extLst>
              <a:ext uri="{FF2B5EF4-FFF2-40B4-BE49-F238E27FC236}">
                <a16:creationId xmlns:a16="http://schemas.microsoft.com/office/drawing/2014/main" id="{A97BC06F-87AA-B3CF-77DE-EDA262A08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852" y="4217222"/>
            <a:ext cx="1943760" cy="194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Picture background">
            <a:extLst>
              <a:ext uri="{FF2B5EF4-FFF2-40B4-BE49-F238E27FC236}">
                <a16:creationId xmlns:a16="http://schemas.microsoft.com/office/drawing/2014/main" id="{27BEA4CD-E81F-9A04-6F34-B77487BED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7370" y="4188734"/>
            <a:ext cx="2891683" cy="187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Picture background">
            <a:extLst>
              <a:ext uri="{FF2B5EF4-FFF2-40B4-BE49-F238E27FC236}">
                <a16:creationId xmlns:a16="http://schemas.microsoft.com/office/drawing/2014/main" id="{80AB193E-4782-0A44-66B0-675DFD1A2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54" y="1135449"/>
            <a:ext cx="3618653" cy="203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Picture background">
            <a:extLst>
              <a:ext uri="{FF2B5EF4-FFF2-40B4-BE49-F238E27FC236}">
                <a16:creationId xmlns:a16="http://schemas.microsoft.com/office/drawing/2014/main" id="{B3ED6586-F69D-1F54-306B-09DDDCBEE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620" y="4170871"/>
            <a:ext cx="3052861" cy="19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34">
            <a:extLst>
              <a:ext uri="{FF2B5EF4-FFF2-40B4-BE49-F238E27FC236}">
                <a16:creationId xmlns:a16="http://schemas.microsoft.com/office/drawing/2014/main" id="{A97C67DA-D17A-23F7-110D-99A7186F502E}"/>
              </a:ext>
            </a:extLst>
          </p:cNvPr>
          <p:cNvSpPr/>
          <p:nvPr/>
        </p:nvSpPr>
        <p:spPr>
          <a:xfrm>
            <a:off x="10829925" y="6234682"/>
            <a:ext cx="1162050" cy="544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r>
              <a:rPr lang="ru-RU" sz="3600" b="1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r>
              <a:rPr lang="en-US" sz="3600" b="1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/0</a:t>
            </a:r>
            <a:r>
              <a:rPr lang="ru-RU" sz="3600" b="1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23560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C4A3"/>
          </a:solidFill>
          <a:ln w="12700">
            <a:solidFill>
              <a:srgbClr val="FFC4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605" y="26517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b="1" dirty="0">
                <a:latin typeface="+mj-lt"/>
              </a:rPr>
              <a:t>ПРЕИМУЩЕСТВА</a:t>
            </a:r>
            <a:endParaRPr lang="en-US" sz="3200" b="1" dirty="0">
              <a:latin typeface="+mj-lt"/>
            </a:endParaRPr>
          </a:p>
        </p:txBody>
      </p:sp>
      <p:sp>
        <p:nvSpPr>
          <p:cNvPr id="5" name="Text 34">
            <a:extLst>
              <a:ext uri="{FF2B5EF4-FFF2-40B4-BE49-F238E27FC236}">
                <a16:creationId xmlns:a16="http://schemas.microsoft.com/office/drawing/2014/main" id="{DBB20590-8976-7ED9-D4A3-570F3603457D}"/>
              </a:ext>
            </a:extLst>
          </p:cNvPr>
          <p:cNvSpPr/>
          <p:nvPr/>
        </p:nvSpPr>
        <p:spPr>
          <a:xfrm>
            <a:off x="10668000" y="6234682"/>
            <a:ext cx="1323975" cy="544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3600" b="1" dirty="0">
                <a:solidFill>
                  <a:srgbClr val="B8B8B8"/>
                </a:solidFill>
                <a:ea typeface="Aptos" pitchFamily="34" charset="-122"/>
                <a:cs typeface="Aptos" pitchFamily="34" charset="-120"/>
              </a:rPr>
              <a:t>07</a:t>
            </a:r>
            <a:r>
              <a:rPr lang="en-US" sz="3600" b="1" dirty="0">
                <a:solidFill>
                  <a:srgbClr val="B8B8B8"/>
                </a:solidFill>
                <a:ea typeface="Aptos" pitchFamily="34" charset="-122"/>
                <a:cs typeface="Aptos" pitchFamily="34" charset="-120"/>
              </a:rPr>
              <a:t>/0</a:t>
            </a:r>
            <a:r>
              <a:rPr lang="ru-RU" sz="3600" b="1" dirty="0">
                <a:solidFill>
                  <a:srgbClr val="B8B8B8"/>
                </a:solidFill>
                <a:ea typeface="Aptos" pitchFamily="34" charset="-122"/>
                <a:cs typeface="Aptos" pitchFamily="34" charset="-120"/>
              </a:rPr>
              <a:t>8</a:t>
            </a:r>
            <a:endParaRPr lang="en-US" sz="3600" dirty="0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57ABC5E9-BD36-3CC3-958A-B0E3212A5C03}"/>
              </a:ext>
            </a:extLst>
          </p:cNvPr>
          <p:cNvSpPr/>
          <p:nvPr/>
        </p:nvSpPr>
        <p:spPr>
          <a:xfrm>
            <a:off x="-1747287" y="2533336"/>
            <a:ext cx="2457450" cy="2457450"/>
          </a:xfrm>
          <a:prstGeom prst="ellipse">
            <a:avLst/>
          </a:prstGeom>
          <a:solidFill>
            <a:srgbClr val="FFC4A3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05CCC749-AF23-8BD3-2173-E53357DAF78D}"/>
              </a:ext>
            </a:extLst>
          </p:cNvPr>
          <p:cNvSpPr/>
          <p:nvPr/>
        </p:nvSpPr>
        <p:spPr>
          <a:xfrm>
            <a:off x="5955905" y="5983398"/>
            <a:ext cx="2457450" cy="2457450"/>
          </a:xfrm>
          <a:prstGeom prst="ellipse">
            <a:avLst/>
          </a:prstGeom>
          <a:solidFill>
            <a:srgbClr val="FFC4A3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1CF6EA86-F62C-53D7-8225-4737FF24BE3A}"/>
              </a:ext>
            </a:extLst>
          </p:cNvPr>
          <p:cNvSpPr/>
          <p:nvPr/>
        </p:nvSpPr>
        <p:spPr>
          <a:xfrm>
            <a:off x="11329987" y="1948629"/>
            <a:ext cx="2457450" cy="2457450"/>
          </a:xfrm>
          <a:prstGeom prst="ellipse">
            <a:avLst/>
          </a:prstGeom>
          <a:solidFill>
            <a:srgbClr val="FFC4A3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C1065D2D-CBEE-D694-B248-632D4449AD26}"/>
              </a:ext>
            </a:extLst>
          </p:cNvPr>
          <p:cNvGrpSpPr/>
          <p:nvPr/>
        </p:nvGrpSpPr>
        <p:grpSpPr>
          <a:xfrm>
            <a:off x="1589726" y="1624372"/>
            <a:ext cx="3274693" cy="1661596"/>
            <a:chOff x="1589726" y="1624372"/>
            <a:chExt cx="3274693" cy="1661596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48E7135E-F0C6-CFF1-197B-065FD316AD09}"/>
                </a:ext>
              </a:extLst>
            </p:cNvPr>
            <p:cNvGrpSpPr/>
            <p:nvPr/>
          </p:nvGrpSpPr>
          <p:grpSpPr>
            <a:xfrm>
              <a:off x="1589726" y="1624372"/>
              <a:ext cx="3274693" cy="1661596"/>
              <a:chOff x="2412753" y="2109123"/>
              <a:chExt cx="8132621" cy="2766244"/>
            </a:xfrm>
            <a:solidFill>
              <a:schemeClr val="accent5">
                <a:lumMod val="40000"/>
                <a:lumOff val="60000"/>
              </a:schemeClr>
            </a:solidFill>
          </p:grpSpPr>
          <p:sp>
            <p:nvSpPr>
              <p:cNvPr id="8" name="Shape 27">
                <a:extLst>
                  <a:ext uri="{FF2B5EF4-FFF2-40B4-BE49-F238E27FC236}">
                    <a16:creationId xmlns:a16="http://schemas.microsoft.com/office/drawing/2014/main" id="{2F137871-9483-26AD-BAA7-7A08B7058D20}"/>
                  </a:ext>
                </a:extLst>
              </p:cNvPr>
              <p:cNvSpPr/>
              <p:nvPr/>
            </p:nvSpPr>
            <p:spPr>
              <a:xfrm>
                <a:off x="2412753" y="2109123"/>
                <a:ext cx="8132621" cy="2766244"/>
              </a:xfrm>
              <a:prstGeom prst="roundRect">
                <a:avLst>
                  <a:gd name="adj" fmla="val 4132"/>
                </a:avLst>
              </a:prstGeom>
              <a:grpFill/>
              <a:ln w="12700">
                <a:solidFill>
                  <a:schemeClr val="accent1"/>
                </a:solidFill>
                <a:prstDash val="solid"/>
              </a:ln>
            </p:spPr>
            <p:txBody>
              <a:bodyPr/>
              <a:lstStyle/>
              <a:p>
                <a:pPr algn="ctr"/>
                <a:endParaRPr lang="ru-RU" sz="2400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33002A-5871-4848-3DAC-920BE64F9783}"/>
                  </a:ext>
                </a:extLst>
              </p:cNvPr>
              <p:cNvSpPr txBox="1"/>
              <p:nvPr/>
            </p:nvSpPr>
            <p:spPr>
              <a:xfrm>
                <a:off x="2680457" y="2238993"/>
                <a:ext cx="7091391" cy="69302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ru-RU" sz="2400" b="1" dirty="0"/>
                  <a:t>Интерактивность</a:t>
                </a: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8056B51-E040-38C2-A267-DC3F784B0D8C}"/>
                </a:ext>
              </a:extLst>
            </p:cNvPr>
            <p:cNvSpPr txBox="1"/>
            <p:nvPr/>
          </p:nvSpPr>
          <p:spPr>
            <a:xfrm>
              <a:off x="1722193" y="2244301"/>
              <a:ext cx="30335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Разные типы заданий для закрепления правил</a:t>
              </a:r>
            </a:p>
          </p:txBody>
        </p: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6E940ACF-1788-0AB1-ED01-45A3989E5C5D}"/>
              </a:ext>
            </a:extLst>
          </p:cNvPr>
          <p:cNvGrpSpPr/>
          <p:nvPr/>
        </p:nvGrpSpPr>
        <p:grpSpPr>
          <a:xfrm>
            <a:off x="7327580" y="1597934"/>
            <a:ext cx="3274694" cy="1661594"/>
            <a:chOff x="6459856" y="1624372"/>
            <a:chExt cx="3274694" cy="1661594"/>
          </a:xfrm>
        </p:grpSpPr>
        <p:grpSp>
          <p:nvGrpSpPr>
            <p:cNvPr id="25" name="Группа 24">
              <a:extLst>
                <a:ext uri="{FF2B5EF4-FFF2-40B4-BE49-F238E27FC236}">
                  <a16:creationId xmlns:a16="http://schemas.microsoft.com/office/drawing/2014/main" id="{8158F045-A628-5CA3-DA98-C5B91C26F3FD}"/>
                </a:ext>
              </a:extLst>
            </p:cNvPr>
            <p:cNvGrpSpPr/>
            <p:nvPr/>
          </p:nvGrpSpPr>
          <p:grpSpPr>
            <a:xfrm>
              <a:off x="6459856" y="1624372"/>
              <a:ext cx="3274694" cy="1661594"/>
              <a:chOff x="2412753" y="2109123"/>
              <a:chExt cx="8132621" cy="2766244"/>
            </a:xfrm>
            <a:solidFill>
              <a:schemeClr val="accent5">
                <a:lumMod val="40000"/>
                <a:lumOff val="60000"/>
              </a:schemeClr>
            </a:solidFill>
          </p:grpSpPr>
          <p:sp>
            <p:nvSpPr>
              <p:cNvPr id="26" name="Shape 27">
                <a:extLst>
                  <a:ext uri="{FF2B5EF4-FFF2-40B4-BE49-F238E27FC236}">
                    <a16:creationId xmlns:a16="http://schemas.microsoft.com/office/drawing/2014/main" id="{DF5F0DA4-A7BA-CD0F-0EDA-8591A082DA93}"/>
                  </a:ext>
                </a:extLst>
              </p:cNvPr>
              <p:cNvSpPr/>
              <p:nvPr/>
            </p:nvSpPr>
            <p:spPr>
              <a:xfrm>
                <a:off x="2412753" y="2109123"/>
                <a:ext cx="8132621" cy="2766244"/>
              </a:xfrm>
              <a:prstGeom prst="roundRect">
                <a:avLst>
                  <a:gd name="adj" fmla="val 4132"/>
                </a:avLst>
              </a:prstGeom>
              <a:grpFill/>
              <a:ln w="12700">
                <a:solidFill>
                  <a:schemeClr val="accent1"/>
                </a:solidFill>
                <a:prstDash val="solid"/>
              </a:ln>
            </p:spPr>
            <p:txBody>
              <a:bodyPr/>
              <a:lstStyle/>
              <a:p>
                <a:pPr algn="ctr"/>
                <a:endParaRPr lang="ru-RU" sz="2400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F69526B-016D-1CD4-729E-5809A62E9DC4}"/>
                  </a:ext>
                </a:extLst>
              </p:cNvPr>
              <p:cNvSpPr txBox="1"/>
              <p:nvPr/>
            </p:nvSpPr>
            <p:spPr>
              <a:xfrm>
                <a:off x="2680458" y="2238993"/>
                <a:ext cx="6212092" cy="73642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ru-RU" sz="2400" b="1" dirty="0"/>
                  <a:t>Автоматизация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0DB32BD-6D1C-FE10-1321-821B09C5388E}"/>
                </a:ext>
              </a:extLst>
            </p:cNvPr>
            <p:cNvSpPr txBox="1"/>
            <p:nvPr/>
          </p:nvSpPr>
          <p:spPr>
            <a:xfrm>
              <a:off x="6589543" y="2270740"/>
              <a:ext cx="30497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Проверка тестов и сохранение результатов</a:t>
              </a:r>
            </a:p>
          </p:txBody>
        </p:sp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277EE988-E859-61FD-88A7-688BC5749561}"/>
              </a:ext>
            </a:extLst>
          </p:cNvPr>
          <p:cNvGrpSpPr/>
          <p:nvPr/>
        </p:nvGrpSpPr>
        <p:grpSpPr>
          <a:xfrm>
            <a:off x="1589726" y="3665593"/>
            <a:ext cx="3515674" cy="1671881"/>
            <a:chOff x="1589726" y="3680646"/>
            <a:chExt cx="3515674" cy="1671881"/>
          </a:xfrm>
        </p:grpSpPr>
        <p:grpSp>
          <p:nvGrpSpPr>
            <p:cNvPr id="22" name="Группа 21">
              <a:extLst>
                <a:ext uri="{FF2B5EF4-FFF2-40B4-BE49-F238E27FC236}">
                  <a16:creationId xmlns:a16="http://schemas.microsoft.com/office/drawing/2014/main" id="{66954C43-7642-AFA6-7F9D-C5100EA788A3}"/>
                </a:ext>
              </a:extLst>
            </p:cNvPr>
            <p:cNvGrpSpPr/>
            <p:nvPr/>
          </p:nvGrpSpPr>
          <p:grpSpPr>
            <a:xfrm>
              <a:off x="1589726" y="3680646"/>
              <a:ext cx="3274693" cy="1671881"/>
              <a:chOff x="2412753" y="2109123"/>
              <a:chExt cx="8132621" cy="2766244"/>
            </a:xfrm>
            <a:solidFill>
              <a:schemeClr val="accent5">
                <a:lumMod val="40000"/>
                <a:lumOff val="60000"/>
              </a:schemeClr>
            </a:solidFill>
          </p:grpSpPr>
          <p:sp>
            <p:nvSpPr>
              <p:cNvPr id="23" name="Shape 27">
                <a:extLst>
                  <a:ext uri="{FF2B5EF4-FFF2-40B4-BE49-F238E27FC236}">
                    <a16:creationId xmlns:a16="http://schemas.microsoft.com/office/drawing/2014/main" id="{B3B4CC09-8D28-0E8D-83A7-9CC2EB5AD02D}"/>
                  </a:ext>
                </a:extLst>
              </p:cNvPr>
              <p:cNvSpPr/>
              <p:nvPr/>
            </p:nvSpPr>
            <p:spPr>
              <a:xfrm>
                <a:off x="2412753" y="2109123"/>
                <a:ext cx="8132621" cy="2766244"/>
              </a:xfrm>
              <a:prstGeom prst="roundRect">
                <a:avLst>
                  <a:gd name="adj" fmla="val 4132"/>
                </a:avLst>
              </a:prstGeom>
              <a:grpFill/>
              <a:ln w="12700">
                <a:solidFill>
                  <a:schemeClr val="accent1"/>
                </a:solidFill>
                <a:prstDash val="solid"/>
              </a:ln>
            </p:spPr>
            <p:txBody>
              <a:bodyPr/>
              <a:lstStyle/>
              <a:p>
                <a:pPr algn="ctr"/>
                <a:endParaRPr lang="ru-RU" sz="2400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97DCA9-15BF-0BDD-FDA2-F547F529BE4B}"/>
                  </a:ext>
                </a:extLst>
              </p:cNvPr>
              <p:cNvSpPr txBox="1"/>
              <p:nvPr/>
            </p:nvSpPr>
            <p:spPr>
              <a:xfrm>
                <a:off x="2680457" y="2238994"/>
                <a:ext cx="7564494" cy="137494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ru-RU" sz="2400" b="1" dirty="0"/>
                  <a:t>Личная статистика</a:t>
                </a:r>
                <a:br>
                  <a:rPr lang="ru-RU" sz="2400" dirty="0"/>
                </a:br>
                <a:endParaRPr lang="ru-RU" sz="2400" dirty="0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AC824FB-B4A3-8C64-2D61-6FA548E5D851}"/>
                </a:ext>
              </a:extLst>
            </p:cNvPr>
            <p:cNvSpPr txBox="1"/>
            <p:nvPr/>
          </p:nvSpPr>
          <p:spPr>
            <a:xfrm>
              <a:off x="1589726" y="4421132"/>
              <a:ext cx="35156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Отображение прогресса и рекомендаций для студента</a:t>
              </a:r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0EB46791-E4C2-E018-0698-6846D8DBB7A2}"/>
              </a:ext>
            </a:extLst>
          </p:cNvPr>
          <p:cNvGrpSpPr/>
          <p:nvPr/>
        </p:nvGrpSpPr>
        <p:grpSpPr>
          <a:xfrm>
            <a:off x="7327580" y="3682863"/>
            <a:ext cx="3274694" cy="1671880"/>
            <a:chOff x="6459856" y="3665593"/>
            <a:chExt cx="3274694" cy="1671880"/>
          </a:xfrm>
        </p:grpSpPr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833D8064-EEA7-49F7-92EA-547EA2674159}"/>
                </a:ext>
              </a:extLst>
            </p:cNvPr>
            <p:cNvGrpSpPr/>
            <p:nvPr/>
          </p:nvGrpSpPr>
          <p:grpSpPr>
            <a:xfrm>
              <a:off x="6459856" y="3665593"/>
              <a:ext cx="3274694" cy="1671880"/>
              <a:chOff x="2412752" y="2109123"/>
              <a:chExt cx="8132620" cy="2766244"/>
            </a:xfrm>
            <a:solidFill>
              <a:schemeClr val="accent5">
                <a:lumMod val="40000"/>
                <a:lumOff val="60000"/>
              </a:schemeClr>
            </a:solidFill>
          </p:grpSpPr>
          <p:sp>
            <p:nvSpPr>
              <p:cNvPr id="30" name="Shape 27">
                <a:extLst>
                  <a:ext uri="{FF2B5EF4-FFF2-40B4-BE49-F238E27FC236}">
                    <a16:creationId xmlns:a16="http://schemas.microsoft.com/office/drawing/2014/main" id="{2D0411C8-F64B-42AC-2C42-5BDE85315533}"/>
                  </a:ext>
                </a:extLst>
              </p:cNvPr>
              <p:cNvSpPr/>
              <p:nvPr/>
            </p:nvSpPr>
            <p:spPr>
              <a:xfrm>
                <a:off x="2412752" y="2109123"/>
                <a:ext cx="8132620" cy="2766244"/>
              </a:xfrm>
              <a:prstGeom prst="roundRect">
                <a:avLst>
                  <a:gd name="adj" fmla="val 4132"/>
                </a:avLst>
              </a:prstGeom>
              <a:grpFill/>
              <a:ln w="12700">
                <a:solidFill>
                  <a:schemeClr val="accent1"/>
                </a:solidFill>
                <a:prstDash val="solid"/>
              </a:ln>
            </p:spPr>
            <p:txBody>
              <a:bodyPr/>
              <a:lstStyle/>
              <a:p>
                <a:pPr algn="ctr"/>
                <a:endParaRPr lang="ru-RU" sz="2400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14B99A0-EB1C-49ED-F940-718666EEF55E}"/>
                  </a:ext>
                </a:extLst>
              </p:cNvPr>
              <p:cNvSpPr txBox="1"/>
              <p:nvPr/>
            </p:nvSpPr>
            <p:spPr>
              <a:xfrm>
                <a:off x="2680458" y="2238994"/>
                <a:ext cx="6212092" cy="132557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ru-RU" sz="2400" b="1" dirty="0"/>
                  <a:t>Единая среда</a:t>
                </a:r>
                <a:br>
                  <a:rPr lang="ru-RU" sz="2400" dirty="0"/>
                </a:br>
                <a:endParaRPr lang="ru-RU" sz="2400" dirty="0"/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54AB31D-701D-F39F-8B76-43F452623A45}"/>
                </a:ext>
              </a:extLst>
            </p:cNvPr>
            <p:cNvSpPr txBox="1"/>
            <p:nvPr/>
          </p:nvSpPr>
          <p:spPr>
            <a:xfrm>
              <a:off x="6589543" y="4283633"/>
              <a:ext cx="304975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Учебные материалы и тестирование в одном приложении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8158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C4A3"/>
          </a:solidFill>
          <a:ln w="12700">
            <a:solidFill>
              <a:srgbClr val="FFC4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1465" y="265177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 pitchFamily="34" charset="0"/>
              </a:rPr>
              <a:t>ЗАКЛЮЧЕНИЕ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412751" y="2109123"/>
            <a:ext cx="8132621" cy="2766244"/>
          </a:xfrm>
          <a:prstGeom prst="roundRect">
            <a:avLst>
              <a:gd name="adj" fmla="val 4132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algn="ctr"/>
            <a:endParaRPr lang="ru-RU" sz="2400" dirty="0"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BC032-13FF-6847-79DE-D1DB066F3FE9}"/>
              </a:ext>
            </a:extLst>
          </p:cNvPr>
          <p:cNvSpPr txBox="1"/>
          <p:nvPr/>
        </p:nvSpPr>
        <p:spPr>
          <a:xfrm>
            <a:off x="2506904" y="2521059"/>
            <a:ext cx="794431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Разработанная система позволяет изучать правила русского языка, закреплять материал с помощью тестов и контролировать результаты тестирования студентов в удобном формате</a:t>
            </a:r>
            <a:endParaRPr lang="ru-RU" sz="2800" dirty="0">
              <a:latin typeface="Aptos Display" panose="020B0004020202020204" pitchFamily="34" charset="0"/>
            </a:endParaRPr>
          </a:p>
        </p:txBody>
      </p:sp>
      <p:sp>
        <p:nvSpPr>
          <p:cNvPr id="5" name="Text 34">
            <a:extLst>
              <a:ext uri="{FF2B5EF4-FFF2-40B4-BE49-F238E27FC236}">
                <a16:creationId xmlns:a16="http://schemas.microsoft.com/office/drawing/2014/main" id="{DBB20590-8976-7ED9-D4A3-570F3603457D}"/>
              </a:ext>
            </a:extLst>
          </p:cNvPr>
          <p:cNvSpPr/>
          <p:nvPr/>
        </p:nvSpPr>
        <p:spPr>
          <a:xfrm>
            <a:off x="10049608" y="6234682"/>
            <a:ext cx="1942367" cy="544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r>
              <a:rPr lang="ru-RU" sz="3600" b="1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r>
              <a:rPr lang="en-US" sz="3600" b="1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/0</a:t>
            </a:r>
            <a:r>
              <a:rPr lang="ru-RU" sz="3600" b="1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600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749BCDA6-7284-AD16-A34A-6AEC01090891}"/>
              </a:ext>
            </a:extLst>
          </p:cNvPr>
          <p:cNvSpPr/>
          <p:nvPr/>
        </p:nvSpPr>
        <p:spPr>
          <a:xfrm>
            <a:off x="-1535859" y="2521059"/>
            <a:ext cx="2457450" cy="2457450"/>
          </a:xfrm>
          <a:prstGeom prst="ellipse">
            <a:avLst/>
          </a:prstGeom>
          <a:solidFill>
            <a:srgbClr val="FFC4A3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78BE1258-8BCA-F4CE-3219-1EFC0F1FA1F1}"/>
              </a:ext>
            </a:extLst>
          </p:cNvPr>
          <p:cNvSpPr/>
          <p:nvPr/>
        </p:nvSpPr>
        <p:spPr>
          <a:xfrm>
            <a:off x="2863215" y="5857721"/>
            <a:ext cx="2457450" cy="2457450"/>
          </a:xfrm>
          <a:prstGeom prst="ellipse">
            <a:avLst/>
          </a:prstGeom>
          <a:solidFill>
            <a:srgbClr val="FFC4A3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4CBD4309-7A47-61DD-83EB-C5E386779FF5}"/>
              </a:ext>
            </a:extLst>
          </p:cNvPr>
          <p:cNvSpPr/>
          <p:nvPr/>
        </p:nvSpPr>
        <p:spPr>
          <a:xfrm>
            <a:off x="11163300" y="1034795"/>
            <a:ext cx="2457450" cy="2457450"/>
          </a:xfrm>
          <a:prstGeom prst="ellipse">
            <a:avLst/>
          </a:prstGeom>
          <a:solidFill>
            <a:srgbClr val="FFC4A3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339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4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Овал 31">
            <a:extLst>
              <a:ext uri="{FF2B5EF4-FFF2-40B4-BE49-F238E27FC236}">
                <a16:creationId xmlns:a16="http://schemas.microsoft.com/office/drawing/2014/main" id="{C3CD927C-0D78-6C61-3DA1-D0128CF97D03}"/>
              </a:ext>
            </a:extLst>
          </p:cNvPr>
          <p:cNvSpPr/>
          <p:nvPr/>
        </p:nvSpPr>
        <p:spPr>
          <a:xfrm>
            <a:off x="1028700" y="5937691"/>
            <a:ext cx="2457450" cy="24574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56005B72-5DFD-0EEB-EC2C-30587A94F227}"/>
              </a:ext>
            </a:extLst>
          </p:cNvPr>
          <p:cNvSpPr/>
          <p:nvPr/>
        </p:nvSpPr>
        <p:spPr>
          <a:xfrm>
            <a:off x="-828675" y="-611558"/>
            <a:ext cx="2457450" cy="24574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053689" y="468534"/>
            <a:ext cx="8084620" cy="140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dirty="0"/>
              <a:t>ФЕДЕРАЛЬНОЕ ГОСУДАРСТВЕННОЕ БЮДЖЕТНОЕ ОБРАЗОВАТЕЛЬНОЕ УЧРЕЖДЕНИЕ ВЫСШЕГО ОБРАЗОВАНИЯ </a:t>
            </a:r>
            <a:br>
              <a:rPr lang="ru-RU" sz="1600" b="1" dirty="0"/>
            </a:br>
            <a:r>
              <a:rPr lang="ru-RU" sz="1600" b="1" dirty="0"/>
              <a:t>«САНКТ-ПЕТЕРБУРГСКИЙ ГОСУДАРСТВЕННЫЙ УНИВЕРСИТЕТ ТЕЛЕКОММУНИКАЦИЙ ИМ. ПРОФ. М.А. БОНЧ-БРУЕВИЧА» </a:t>
            </a:r>
            <a:br>
              <a:rPr lang="ru-RU" sz="1600" b="1" dirty="0"/>
            </a:br>
            <a:r>
              <a:rPr lang="ru-RU" sz="1600" b="1" dirty="0"/>
              <a:t>(СПбГУТ) </a:t>
            </a:r>
            <a:br>
              <a:rPr lang="ru-RU" sz="1600" b="1" dirty="0"/>
            </a:br>
            <a:br>
              <a:rPr lang="ru-RU" sz="1600" b="1" dirty="0"/>
            </a:br>
            <a:r>
              <a:rPr lang="ru-RU" sz="1600" b="1" dirty="0"/>
              <a:t>АРХАНГЕЛЬСКИЙ КОЛЛЕДЖ ТЕЛЕКОММУНИКАЦИЙ </a:t>
            </a:r>
            <a:br>
              <a:rPr lang="ru-RU" sz="1600" b="1" dirty="0"/>
            </a:br>
            <a:r>
              <a:rPr lang="ru-RU" sz="1600" b="1" dirty="0"/>
              <a:t>ИМ. Б.Л. РОЗИНГА (ФИЛИАЛ) СПбГУТ </a:t>
            </a:r>
            <a:br>
              <a:rPr lang="ru-RU" sz="1600" b="1" dirty="0"/>
            </a:br>
            <a:r>
              <a:rPr lang="ru-RU" sz="1600" b="1" dirty="0"/>
              <a:t>(АКТ (ф) СПбГУТ) </a:t>
            </a:r>
            <a:endParaRPr lang="en-US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29A70-40A9-97E6-8158-A8661A658A4D}"/>
              </a:ext>
            </a:extLst>
          </p:cNvPr>
          <p:cNvSpPr txBox="1"/>
          <p:nvPr/>
        </p:nvSpPr>
        <p:spPr>
          <a:xfrm>
            <a:off x="1831648" y="2473076"/>
            <a:ext cx="8528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ea typeface="Verdana" panose="020B0604030504040204" pitchFamily="34" charset="0"/>
              </a:rPr>
              <a:t>ДИПЛОМНЫЙ ПРОЕКТ</a:t>
            </a:r>
            <a:endParaRPr lang="ru-RU" sz="2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8F988-A29F-A789-2B8F-5F13D806E266}"/>
              </a:ext>
            </a:extLst>
          </p:cNvPr>
          <p:cNvSpPr txBox="1"/>
          <p:nvPr/>
        </p:nvSpPr>
        <p:spPr>
          <a:xfrm>
            <a:off x="1508789" y="3264191"/>
            <a:ext cx="93567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ea typeface="Verdana" panose="020B0604030504040204" pitchFamily="34" charset="0"/>
              </a:rPr>
              <a:t>РАЗРАБОТКА ИНФОРМАЦИОННОЙ СИСТЕМЫ</a:t>
            </a:r>
          </a:p>
          <a:p>
            <a:pPr algn="ctr"/>
            <a:r>
              <a:rPr lang="ru-RU" sz="2400" b="1" dirty="0">
                <a:ea typeface="Verdana" panose="020B0604030504040204" pitchFamily="34" charset="0"/>
              </a:rPr>
              <a:t>ДЛЯ ИЗУЧЕНИЯ ПРАВИЛ РУССКОГО ЯЗЫКА «ГРАММАРИУМ»</a:t>
            </a:r>
            <a:endParaRPr lang="ru-RU" sz="24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6445F3-FE04-ED86-447F-D33A81725C7D}"/>
              </a:ext>
            </a:extLst>
          </p:cNvPr>
          <p:cNvSpPr txBox="1"/>
          <p:nvPr/>
        </p:nvSpPr>
        <p:spPr>
          <a:xfrm>
            <a:off x="299100" y="4571236"/>
            <a:ext cx="621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ea typeface="Verdana" panose="020B0604030504040204" pitchFamily="34" charset="0"/>
              </a:rPr>
              <a:t>Дипломник </a:t>
            </a:r>
          </a:p>
          <a:p>
            <a:r>
              <a:rPr lang="ru-RU" dirty="0" err="1">
                <a:ea typeface="Verdana" panose="020B0604030504040204" pitchFamily="34" charset="0"/>
              </a:rPr>
              <a:t>Вепрёв</a:t>
            </a:r>
            <a:r>
              <a:rPr lang="ru-RU" dirty="0">
                <a:ea typeface="Verdana" panose="020B0604030504040204" pitchFamily="34" charset="0"/>
              </a:rPr>
              <a:t> Александр Михайлович 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4FFBA4-F36A-A395-8992-3C4F95CECFA7}"/>
              </a:ext>
            </a:extLst>
          </p:cNvPr>
          <p:cNvSpPr txBox="1"/>
          <p:nvPr/>
        </p:nvSpPr>
        <p:spPr>
          <a:xfrm>
            <a:off x="299100" y="5291360"/>
            <a:ext cx="5888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ea typeface="Verdana" panose="020B0604030504040204" pitchFamily="34" charset="0"/>
              </a:rPr>
              <a:t>Дипломный руководитель</a:t>
            </a:r>
          </a:p>
          <a:p>
            <a:r>
              <a:rPr lang="ru-RU" dirty="0">
                <a:ea typeface="Verdana" panose="020B0604030504040204" pitchFamily="34" charset="0"/>
              </a:rPr>
              <a:t>Старостина Вера Валерьевна</a:t>
            </a:r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C9ECBD-0FBE-9B97-3B54-1F1CB1DDAD32}"/>
              </a:ext>
            </a:extLst>
          </p:cNvPr>
          <p:cNvSpPr txBox="1"/>
          <p:nvPr/>
        </p:nvSpPr>
        <p:spPr>
          <a:xfrm>
            <a:off x="3151975" y="6426436"/>
            <a:ext cx="5888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ea typeface="Verdana" panose="020B0604030504040204" pitchFamily="34" charset="0"/>
              </a:rPr>
              <a:t>Архангельск 2026</a:t>
            </a:r>
            <a:endParaRPr lang="ru-RU" sz="1600" dirty="0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5AE369CE-41EA-1633-FD0D-238019E1BEAC}"/>
              </a:ext>
            </a:extLst>
          </p:cNvPr>
          <p:cNvSpPr/>
          <p:nvPr/>
        </p:nvSpPr>
        <p:spPr>
          <a:xfrm>
            <a:off x="10963275" y="2604460"/>
            <a:ext cx="2457450" cy="24574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532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1457</TotalTime>
  <Words>299</Words>
  <Application>Microsoft Office PowerPoint</Application>
  <PresentationFormat>Широкоэкранный</PresentationFormat>
  <Paragraphs>63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Segoe UI</vt:lpstr>
      <vt:lpstr>Verdana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Граммариум — шаблон презентации</dc:title>
  <dc:subject>Minimal Duolingo-inspired presentation template for Grammarium</dc:subject>
  <dc:creator>OpenAI</dc:creator>
  <cp:lastModifiedBy>Angel Notice</cp:lastModifiedBy>
  <cp:revision>203</cp:revision>
  <dcterms:created xsi:type="dcterms:W3CDTF">2026-05-21T19:48:09Z</dcterms:created>
  <dcterms:modified xsi:type="dcterms:W3CDTF">2026-06-17T06:13:22Z</dcterms:modified>
</cp:coreProperties>
</file>