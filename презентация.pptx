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71" r:id="rId4"/>
    <p:sldId id="270" r:id="rId5"/>
    <p:sldId id="276" r:id="rId6"/>
    <p:sldId id="269" r:id="rId7"/>
    <p:sldId id="272" r:id="rId8"/>
    <p:sldId id="273" r:id="rId9"/>
    <p:sldId id="27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C4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2274" y="10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221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93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64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22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29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8643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50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86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C4A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Овал 31">
            <a:extLst>
              <a:ext uri="{FF2B5EF4-FFF2-40B4-BE49-F238E27FC236}">
                <a16:creationId xmlns:a16="http://schemas.microsoft.com/office/drawing/2014/main" id="{C3CD927C-0D78-6C61-3DA1-D0128CF97D03}"/>
              </a:ext>
            </a:extLst>
          </p:cNvPr>
          <p:cNvSpPr/>
          <p:nvPr/>
        </p:nvSpPr>
        <p:spPr>
          <a:xfrm>
            <a:off x="1028700" y="5937691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>
            <a:extLst>
              <a:ext uri="{FF2B5EF4-FFF2-40B4-BE49-F238E27FC236}">
                <a16:creationId xmlns:a16="http://schemas.microsoft.com/office/drawing/2014/main" id="{56005B72-5DFD-0EEB-EC2C-30587A94F227}"/>
              </a:ext>
            </a:extLst>
          </p:cNvPr>
          <p:cNvSpPr/>
          <p:nvPr/>
        </p:nvSpPr>
        <p:spPr>
          <a:xfrm>
            <a:off x="-828675" y="-611558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2053689" y="468534"/>
            <a:ext cx="8084620" cy="140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ФЕДЕРАЛЬНОЕ ГОСУДАРСТВЕННОЕ БЮДЖЕТНОЕ ОБРАЗОВАТЕЛЬНОЕ УЧРЕЖДЕНИЕ ВЫСШЕГО ОБРАЗОВАНИЯ </a:t>
            </a:r>
            <a:br>
              <a:rPr lang="ru-RU" sz="1600" b="1" dirty="0"/>
            </a:br>
            <a:r>
              <a:rPr lang="ru-RU" sz="1600" b="1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600" b="1" dirty="0"/>
            </a:br>
            <a:r>
              <a:rPr lang="ru-RU" sz="1600" b="1" dirty="0"/>
              <a:t>(СПбГУТ) </a:t>
            </a:r>
            <a:br>
              <a:rPr lang="ru-RU" sz="1600" b="1" dirty="0"/>
            </a:br>
            <a:br>
              <a:rPr lang="ru-RU" sz="1600" b="1" dirty="0"/>
            </a:br>
            <a:r>
              <a:rPr lang="ru-RU" sz="1600" b="1" dirty="0"/>
              <a:t>АРХАНГЕЛЬСКИЙ КОЛЛЕДЖ ТЕЛЕКОММУНИКАЦИЙ </a:t>
            </a:r>
            <a:br>
              <a:rPr lang="ru-RU" sz="1600" b="1" dirty="0"/>
            </a:br>
            <a:r>
              <a:rPr lang="ru-RU" sz="1600" b="1" dirty="0"/>
              <a:t>ИМ. Б.Л. РОЗИНГА (ФИЛИАЛ) СПбГУТ </a:t>
            </a:r>
            <a:br>
              <a:rPr lang="ru-RU" sz="1600" b="1" dirty="0"/>
            </a:br>
            <a:r>
              <a:rPr lang="ru-RU" sz="1600" b="1" dirty="0"/>
              <a:t>(АКТ (ф) СПбГУТ) 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29A70-40A9-97E6-8158-A8661A658A4D}"/>
              </a:ext>
            </a:extLst>
          </p:cNvPr>
          <p:cNvSpPr txBox="1"/>
          <p:nvPr/>
        </p:nvSpPr>
        <p:spPr>
          <a:xfrm>
            <a:off x="1831648" y="2473076"/>
            <a:ext cx="8528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ДИПЛОМНЫЙ ПРОЕКТ</a:t>
            </a:r>
            <a:endParaRPr lang="ru-RU" sz="2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8F988-A29F-A789-2B8F-5F13D806E266}"/>
              </a:ext>
            </a:extLst>
          </p:cNvPr>
          <p:cNvSpPr txBox="1"/>
          <p:nvPr/>
        </p:nvSpPr>
        <p:spPr>
          <a:xfrm>
            <a:off x="-1609725" y="3264191"/>
            <a:ext cx="14592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РАЗРАБОТКА ИНФОРМАЦИОННОЙ СИСТЕМЫ</a:t>
            </a:r>
          </a:p>
          <a:p>
            <a:pPr algn="ctr"/>
            <a:r>
              <a:rPr lang="ru-RU" sz="2400" b="1" dirty="0">
                <a:ea typeface="Verdana" panose="020B0604030504040204" pitchFamily="34" charset="0"/>
              </a:rPr>
              <a:t>ДЛЯ ИЗУЧЕНИЯ ПРАВИЛ РУССКОГО ЯЗЫКА «ГРАММАРИУМ»</a:t>
            </a:r>
            <a:endParaRPr lang="ru-RU" sz="24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45F3-FE04-ED86-447F-D33A81725C7D}"/>
              </a:ext>
            </a:extLst>
          </p:cNvPr>
          <p:cNvSpPr txBox="1"/>
          <p:nvPr/>
        </p:nvSpPr>
        <p:spPr>
          <a:xfrm>
            <a:off x="299100" y="4672584"/>
            <a:ext cx="6215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Дипломник </a:t>
            </a:r>
          </a:p>
          <a:p>
            <a:r>
              <a:rPr lang="ru-RU" sz="1600" dirty="0" err="1">
                <a:ea typeface="Verdana" panose="020B0604030504040204" pitchFamily="34" charset="0"/>
              </a:rPr>
              <a:t>Вепрёв</a:t>
            </a:r>
            <a:r>
              <a:rPr lang="ru-RU" sz="1600" dirty="0">
                <a:ea typeface="Verdana" panose="020B0604030504040204" pitchFamily="34" charset="0"/>
              </a:rPr>
              <a:t> Александр Михайлович </a:t>
            </a:r>
            <a:endParaRPr lang="ru-RU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4FFBA4-F36A-A395-8992-3C4F95CECFA7}"/>
              </a:ext>
            </a:extLst>
          </p:cNvPr>
          <p:cNvSpPr txBox="1"/>
          <p:nvPr/>
        </p:nvSpPr>
        <p:spPr>
          <a:xfrm>
            <a:off x="299100" y="5352916"/>
            <a:ext cx="58880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Дипломный руководитель</a:t>
            </a:r>
          </a:p>
          <a:p>
            <a:r>
              <a:rPr lang="ru-RU" sz="1600" dirty="0">
                <a:ea typeface="Verdana" panose="020B0604030504040204" pitchFamily="34" charset="0"/>
              </a:rPr>
              <a:t>Старостина Вера Валерьевна</a:t>
            </a:r>
            <a:endParaRPr lang="ru-RU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C9ECBD-0FBE-9B97-3B54-1F1CB1DDAD32}"/>
              </a:ext>
            </a:extLst>
          </p:cNvPr>
          <p:cNvSpPr txBox="1"/>
          <p:nvPr/>
        </p:nvSpPr>
        <p:spPr>
          <a:xfrm>
            <a:off x="3151975" y="6426436"/>
            <a:ext cx="58880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ea typeface="Verdana" panose="020B0604030504040204" pitchFamily="34" charset="0"/>
              </a:rPr>
              <a:t>Архангельск 2026</a:t>
            </a:r>
            <a:endParaRPr lang="ru-RU" sz="160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5AE369CE-41EA-1633-FD0D-238019E1BEAC}"/>
              </a:ext>
            </a:extLst>
          </p:cNvPr>
          <p:cNvSpPr/>
          <p:nvPr/>
        </p:nvSpPr>
        <p:spPr>
          <a:xfrm>
            <a:off x="10963275" y="2604460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43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ЦЕЛЕВАЯ АУДИТОРИЯ</a:t>
            </a:r>
            <a:endParaRPr lang="en-US" sz="3200" b="1" dirty="0"/>
          </a:p>
        </p:txBody>
      </p:sp>
      <p:sp>
        <p:nvSpPr>
          <p:cNvPr id="36" name="Text 34"/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02/09</a:t>
            </a:r>
            <a:endParaRPr lang="en-US" sz="3600" dirty="0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F219A1B-DB23-CEA7-3F5C-64AB41A49F56}"/>
              </a:ext>
            </a:extLst>
          </p:cNvPr>
          <p:cNvSpPr/>
          <p:nvPr/>
        </p:nvSpPr>
        <p:spPr>
          <a:xfrm>
            <a:off x="-1228725" y="2558357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5231A5C-700A-06B4-CB2D-FED2B90EF297}"/>
              </a:ext>
            </a:extLst>
          </p:cNvPr>
          <p:cNvSpPr/>
          <p:nvPr/>
        </p:nvSpPr>
        <p:spPr>
          <a:xfrm>
            <a:off x="4539763" y="5716524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6483E92B-4707-A4DD-215C-33A35B475F29}"/>
              </a:ext>
            </a:extLst>
          </p:cNvPr>
          <p:cNvSpPr/>
          <p:nvPr/>
        </p:nvSpPr>
        <p:spPr>
          <a:xfrm>
            <a:off x="11051199" y="1122016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AC212671-FED1-90A4-3B63-20198A23A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7646" y="2196732"/>
            <a:ext cx="4153654" cy="3415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7754BA-8740-3DD2-E245-C6042FA99E0D}"/>
              </a:ext>
            </a:extLst>
          </p:cNvPr>
          <p:cNvSpPr txBox="1"/>
          <p:nvPr/>
        </p:nvSpPr>
        <p:spPr>
          <a:xfrm>
            <a:off x="902228" y="1195741"/>
            <a:ext cx="45734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/>
              <a:t> Студенты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D50CE0-F4D2-0820-B22B-CC3B8212ABAE}"/>
              </a:ext>
            </a:extLst>
          </p:cNvPr>
          <p:cNvSpPr txBox="1"/>
          <p:nvPr/>
        </p:nvSpPr>
        <p:spPr>
          <a:xfrm>
            <a:off x="6423514" y="1014984"/>
            <a:ext cx="38031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/>
              <a:t>Преподаватели русского языка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4F9485E-CF47-51CD-E7EE-73C549D14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3817" y="2197491"/>
            <a:ext cx="3153132" cy="315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43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АКТУАЛЬНОСТЬ</a:t>
            </a:r>
            <a:endParaRPr lang="en-US" sz="3200" b="1" dirty="0"/>
          </a:p>
        </p:txBody>
      </p:sp>
      <p:sp>
        <p:nvSpPr>
          <p:cNvPr id="5" name="Text 34">
            <a:extLst>
              <a:ext uri="{FF2B5EF4-FFF2-40B4-BE49-F238E27FC236}">
                <a16:creationId xmlns:a16="http://schemas.microsoft.com/office/drawing/2014/main" id="{879D2725-CFAF-EF32-0C84-50D3E4D96774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03/09</a:t>
            </a:r>
            <a:endParaRPr lang="en-US" sz="3600" dirty="0"/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5DC5FAF-37AB-2F5C-F232-13D590F633E3}"/>
              </a:ext>
            </a:extLst>
          </p:cNvPr>
          <p:cNvGrpSpPr/>
          <p:nvPr/>
        </p:nvGrpSpPr>
        <p:grpSpPr>
          <a:xfrm>
            <a:off x="363114" y="1602221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6" name="Shape 27">
              <a:extLst>
                <a:ext uri="{FF2B5EF4-FFF2-40B4-BE49-F238E27FC236}">
                  <a16:creationId xmlns:a16="http://schemas.microsoft.com/office/drawing/2014/main" id="{817E654C-38E2-DD9D-F4FE-6DCE320CC62B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781B27A-5FD1-DB4A-A578-6E11C916EBE1}"/>
                </a:ext>
              </a:extLst>
            </p:cNvPr>
            <p:cNvSpPr txBox="1"/>
            <p:nvPr/>
          </p:nvSpPr>
          <p:spPr>
            <a:xfrm>
              <a:off x="2837399" y="2658070"/>
              <a:ext cx="7535175" cy="298644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систематизация учебных материалов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2557495E-21CF-7B13-6065-667C3B079C74}"/>
              </a:ext>
            </a:extLst>
          </p:cNvPr>
          <p:cNvGrpSpPr/>
          <p:nvPr/>
        </p:nvGrpSpPr>
        <p:grpSpPr>
          <a:xfrm>
            <a:off x="6408314" y="1602222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C90931A6-572A-98CD-DAC2-36ADCA95B6FB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078496D-C88C-662F-3C43-FD6832C26373}"/>
                </a:ext>
              </a:extLst>
            </p:cNvPr>
            <p:cNvSpPr txBox="1"/>
            <p:nvPr/>
          </p:nvSpPr>
          <p:spPr>
            <a:xfrm>
              <a:off x="2837399" y="3194176"/>
              <a:ext cx="7535175" cy="1659134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закрепление правил на практике</a:t>
              </a:r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EDC985BA-2CFB-3079-E9C9-BCA9317188B3}"/>
              </a:ext>
            </a:extLst>
          </p:cNvPr>
          <p:cNvGrpSpPr/>
          <p:nvPr/>
        </p:nvGrpSpPr>
        <p:grpSpPr>
          <a:xfrm>
            <a:off x="363113" y="4514937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Shape 27">
              <a:extLst>
                <a:ext uri="{FF2B5EF4-FFF2-40B4-BE49-F238E27FC236}">
                  <a16:creationId xmlns:a16="http://schemas.microsoft.com/office/drawing/2014/main" id="{040DA31B-E3F2-606F-5726-1D6AC1936529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A0555EE-DCC9-9A4D-C10A-C884982A4322}"/>
                </a:ext>
              </a:extLst>
            </p:cNvPr>
            <p:cNvSpPr txBox="1"/>
            <p:nvPr/>
          </p:nvSpPr>
          <p:spPr>
            <a:xfrm>
              <a:off x="2837399" y="3093887"/>
              <a:ext cx="7535175" cy="1659134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автоматизация проверки знаний</a:t>
              </a:r>
            </a:p>
          </p:txBody>
        </p:sp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6E0BC681-005D-9921-BA2D-5688A0B27841}"/>
              </a:ext>
            </a:extLst>
          </p:cNvPr>
          <p:cNvGrpSpPr/>
          <p:nvPr/>
        </p:nvGrpSpPr>
        <p:grpSpPr>
          <a:xfrm>
            <a:off x="6408314" y="4514936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6" name="Shape 27">
              <a:extLst>
                <a:ext uri="{FF2B5EF4-FFF2-40B4-BE49-F238E27FC236}">
                  <a16:creationId xmlns:a16="http://schemas.microsoft.com/office/drawing/2014/main" id="{16F24CAC-E9B8-3851-E4C8-29D3A67BAC64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A94FE77-B0AE-4CF0-CA74-3ED6D4D21846}"/>
                </a:ext>
              </a:extLst>
            </p:cNvPr>
            <p:cNvSpPr txBox="1"/>
            <p:nvPr/>
          </p:nvSpPr>
          <p:spPr>
            <a:xfrm>
              <a:off x="2708520" y="3279033"/>
              <a:ext cx="7959822" cy="165913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контроль результатов тестирования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569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ЦЕЛЬ</a:t>
            </a:r>
            <a:endParaRPr lang="en-US" sz="3200" b="1" dirty="0"/>
          </a:p>
        </p:txBody>
      </p:sp>
      <p:sp>
        <p:nvSpPr>
          <p:cNvPr id="29" name="Shape 27"/>
          <p:cNvSpPr/>
          <p:nvPr/>
        </p:nvSpPr>
        <p:spPr>
          <a:xfrm>
            <a:off x="2004551" y="2483124"/>
            <a:ext cx="8182592" cy="2141689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ru-RU" sz="2400" dirty="0">
              <a:latin typeface="Aptos Display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BC032-13FF-6847-79DE-D1DB066F3FE9}"/>
              </a:ext>
            </a:extLst>
          </p:cNvPr>
          <p:cNvSpPr txBox="1"/>
          <p:nvPr/>
        </p:nvSpPr>
        <p:spPr>
          <a:xfrm>
            <a:off x="2510825" y="2571982"/>
            <a:ext cx="7170044" cy="18946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0215" algn="ctr">
              <a:lnSpc>
                <a:spcPct val="150000"/>
              </a:lnSpc>
            </a:pPr>
            <a:r>
              <a:rPr lang="ru-RU" sz="2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Целью дипломного проектирования является разработка информационной системы «</a:t>
            </a:r>
            <a:r>
              <a:rPr lang="ru-RU" sz="20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Граммариум</a:t>
            </a:r>
            <a:r>
              <a:rPr lang="ru-RU" sz="2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», предназначенной для изучения правил русского языка, прохождения тестов и контроля успеваемости студентов</a:t>
            </a:r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A0ED3D34-292B-3423-2DF1-5D4065216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3587" y="1998012"/>
            <a:ext cx="1147940" cy="1147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576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605" y="29107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+mj-lt"/>
              </a:rPr>
              <a:t>ЗАДАЧИ</a:t>
            </a:r>
            <a:endParaRPr lang="en-US" sz="3200" b="1" dirty="0">
              <a:latin typeface="+mj-lt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B242B2E-D742-8095-214A-B6BB250D6203}"/>
              </a:ext>
            </a:extLst>
          </p:cNvPr>
          <p:cNvGrpSpPr/>
          <p:nvPr/>
        </p:nvGrpSpPr>
        <p:grpSpPr>
          <a:xfrm>
            <a:off x="4707256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9" name="Shape 27"/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DBC032-13FF-6847-79DE-D1DB066F3FE9}"/>
                </a:ext>
              </a:extLst>
            </p:cNvPr>
            <p:cNvSpPr txBox="1"/>
            <p:nvPr/>
          </p:nvSpPr>
          <p:spPr>
            <a:xfrm>
              <a:off x="2644812" y="2616925"/>
              <a:ext cx="7587566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Проектирование и реализация БД</a:t>
              </a:r>
            </a:p>
          </p:txBody>
        </p:sp>
      </p:grp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668000" y="6234682"/>
            <a:ext cx="1323975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5</a:t>
            </a: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>
              <a:latin typeface="Bahnschrift Light" panose="020B0502040204020203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D52CDDF-295C-E77A-5259-7C2580CB2C8D}"/>
              </a:ext>
            </a:extLst>
          </p:cNvPr>
          <p:cNvGrpSpPr/>
          <p:nvPr/>
        </p:nvGrpSpPr>
        <p:grpSpPr>
          <a:xfrm>
            <a:off x="4707256" y="3967346"/>
            <a:ext cx="2764067" cy="1313088"/>
            <a:chOff x="2517702" y="206101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4" name="Shape 27">
              <a:extLst>
                <a:ext uri="{FF2B5EF4-FFF2-40B4-BE49-F238E27FC236}">
                  <a16:creationId xmlns:a16="http://schemas.microsoft.com/office/drawing/2014/main" id="{03757012-3530-EBCF-374A-CC6F1D1E4ACC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30A7BE-D04F-686F-83FA-6DBF7BFA25A2}"/>
                </a:ext>
              </a:extLst>
            </p:cNvPr>
            <p:cNvSpPr txBox="1"/>
            <p:nvPr/>
          </p:nvSpPr>
          <p:spPr>
            <a:xfrm>
              <a:off x="2558170" y="2915914"/>
              <a:ext cx="7841784" cy="97257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cs typeface="Segoe UI" panose="020B0502040204020203" pitchFamily="34" charset="0"/>
                </a:rPr>
                <a:t>Тестирование</a:t>
              </a: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A1355C0-E0AC-11EC-478A-07485CCD6AB5}"/>
              </a:ext>
            </a:extLst>
          </p:cNvPr>
          <p:cNvGrpSpPr/>
          <p:nvPr/>
        </p:nvGrpSpPr>
        <p:grpSpPr>
          <a:xfrm>
            <a:off x="1372532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7" name="Shape 27">
              <a:extLst>
                <a:ext uri="{FF2B5EF4-FFF2-40B4-BE49-F238E27FC236}">
                  <a16:creationId xmlns:a16="http://schemas.microsoft.com/office/drawing/2014/main" id="{2198B90E-D6C3-AA07-A4D1-55184B37A8E0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1174A51-36EC-D02E-D2A8-A9898EB4D590}"/>
                </a:ext>
              </a:extLst>
            </p:cNvPr>
            <p:cNvSpPr txBox="1"/>
            <p:nvPr/>
          </p:nvSpPr>
          <p:spPr>
            <a:xfrm>
              <a:off x="2680458" y="2238993"/>
              <a:ext cx="7624036" cy="2528698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Анализ предметной области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BCED09E5-FCF2-64A9-56D8-440A52AA40E4}"/>
              </a:ext>
            </a:extLst>
          </p:cNvPr>
          <p:cNvGrpSpPr/>
          <p:nvPr/>
        </p:nvGrpSpPr>
        <p:grpSpPr>
          <a:xfrm>
            <a:off x="1373187" y="3963517"/>
            <a:ext cx="2764067" cy="1313088"/>
            <a:chOff x="2412753" y="210912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D3659539-85A4-30E6-419B-86F27988D253}"/>
                </a:ext>
              </a:extLst>
            </p:cNvPr>
            <p:cNvSpPr/>
            <p:nvPr/>
          </p:nvSpPr>
          <p:spPr>
            <a:xfrm>
              <a:off x="2412753" y="210912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D49495-9638-D7FC-2774-01ABBF106D8C}"/>
                </a:ext>
              </a:extLst>
            </p:cNvPr>
            <p:cNvSpPr txBox="1"/>
            <p:nvPr/>
          </p:nvSpPr>
          <p:spPr>
            <a:xfrm>
              <a:off x="2657323" y="2524728"/>
              <a:ext cx="7437628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Разграничение прав доступа</a:t>
              </a:r>
            </a:p>
          </p:txBody>
        </p:sp>
      </p:grpSp>
      <p:sp>
        <p:nvSpPr>
          <p:cNvPr id="48" name="Овал 47">
            <a:extLst>
              <a:ext uri="{FF2B5EF4-FFF2-40B4-BE49-F238E27FC236}">
                <a16:creationId xmlns:a16="http://schemas.microsoft.com/office/drawing/2014/main" id="{18649E56-F528-B184-03BC-9F2A0C9D929B}"/>
              </a:ext>
            </a:extLst>
          </p:cNvPr>
          <p:cNvSpPr/>
          <p:nvPr/>
        </p:nvSpPr>
        <p:spPr>
          <a:xfrm>
            <a:off x="11535590" y="1431310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47470B9A-A1B9-3A5C-9C74-585DDB95B0F6}"/>
              </a:ext>
            </a:extLst>
          </p:cNvPr>
          <p:cNvSpPr/>
          <p:nvPr/>
        </p:nvSpPr>
        <p:spPr>
          <a:xfrm>
            <a:off x="-1731162" y="2734792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>
            <a:extLst>
              <a:ext uri="{FF2B5EF4-FFF2-40B4-BE49-F238E27FC236}">
                <a16:creationId xmlns:a16="http://schemas.microsoft.com/office/drawing/2014/main" id="{9F9F03B7-0FE5-EE72-D08D-A5F0C825E449}"/>
              </a:ext>
            </a:extLst>
          </p:cNvPr>
          <p:cNvSpPr/>
          <p:nvPr/>
        </p:nvSpPr>
        <p:spPr>
          <a:xfrm>
            <a:off x="6242598" y="5994334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51E22920-077E-2DF7-F936-7DCD9B8E8549}"/>
              </a:ext>
            </a:extLst>
          </p:cNvPr>
          <p:cNvGrpSpPr/>
          <p:nvPr/>
        </p:nvGrpSpPr>
        <p:grpSpPr>
          <a:xfrm>
            <a:off x="8054748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8" name="Shape 27">
              <a:extLst>
                <a:ext uri="{FF2B5EF4-FFF2-40B4-BE49-F238E27FC236}">
                  <a16:creationId xmlns:a16="http://schemas.microsoft.com/office/drawing/2014/main" id="{2691AAE2-5EF3-144F-872B-11335AF8E727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63CB00-B53E-C75F-9777-17DDAA2D7E98}"/>
                </a:ext>
              </a:extLst>
            </p:cNvPr>
            <p:cNvSpPr txBox="1"/>
            <p:nvPr/>
          </p:nvSpPr>
          <p:spPr>
            <a:xfrm>
              <a:off x="2644812" y="2253392"/>
              <a:ext cx="7587566" cy="2528698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Разработка программных модулей</a:t>
              </a: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0EA139DE-A598-3AE9-DDCE-3519ADBF8B38}"/>
              </a:ext>
            </a:extLst>
          </p:cNvPr>
          <p:cNvGrpSpPr/>
          <p:nvPr/>
        </p:nvGrpSpPr>
        <p:grpSpPr>
          <a:xfrm>
            <a:off x="8054748" y="3964033"/>
            <a:ext cx="2764067" cy="1313088"/>
            <a:chOff x="2517702" y="206101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1" name="Shape 27">
              <a:extLst>
                <a:ext uri="{FF2B5EF4-FFF2-40B4-BE49-F238E27FC236}">
                  <a16:creationId xmlns:a16="http://schemas.microsoft.com/office/drawing/2014/main" id="{5D8DAA24-237B-B3DC-2162-F4A655367CF2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280E9E9-14B5-A656-8174-F4275B0DD80C}"/>
                </a:ext>
              </a:extLst>
            </p:cNvPr>
            <p:cNvSpPr txBox="1"/>
            <p:nvPr/>
          </p:nvSpPr>
          <p:spPr>
            <a:xfrm>
              <a:off x="2622650" y="2443389"/>
              <a:ext cx="7841784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cs typeface="Segoe UI" panose="020B0502040204020203" pitchFamily="34" charset="0"/>
                </a:rPr>
                <a:t>Разработка документации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8375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СРЕДСТВА РАЗРАБОТКИ</a:t>
            </a:r>
            <a:endParaRPr lang="en-US" sz="3200" b="1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68ECF82E-64CE-643A-0976-F146D933F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025" y="3863193"/>
            <a:ext cx="2580370" cy="258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Picture background">
            <a:extLst>
              <a:ext uri="{FF2B5EF4-FFF2-40B4-BE49-F238E27FC236}">
                <a16:creationId xmlns:a16="http://schemas.microsoft.com/office/drawing/2014/main" id="{F10A99DF-7C2C-C780-371F-50A4708E3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70" y="1417212"/>
            <a:ext cx="1577595" cy="1577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Picture background">
            <a:extLst>
              <a:ext uri="{FF2B5EF4-FFF2-40B4-BE49-F238E27FC236}">
                <a16:creationId xmlns:a16="http://schemas.microsoft.com/office/drawing/2014/main" id="{5CE82100-007E-CA0C-8954-7964AD4C7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851" y="1227181"/>
            <a:ext cx="1943761" cy="194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icture background">
            <a:extLst>
              <a:ext uri="{FF2B5EF4-FFF2-40B4-BE49-F238E27FC236}">
                <a16:creationId xmlns:a16="http://schemas.microsoft.com/office/drawing/2014/main" id="{A97BC06F-87AA-B3CF-77DE-EDA262A08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852" y="4217222"/>
            <a:ext cx="1943760" cy="1943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Picture background">
            <a:extLst>
              <a:ext uri="{FF2B5EF4-FFF2-40B4-BE49-F238E27FC236}">
                <a16:creationId xmlns:a16="http://schemas.microsoft.com/office/drawing/2014/main" id="{27BEA4CD-E81F-9A04-6F34-B77487BED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7370" y="4188734"/>
            <a:ext cx="2891683" cy="1872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Picture background">
            <a:extLst>
              <a:ext uri="{FF2B5EF4-FFF2-40B4-BE49-F238E27FC236}">
                <a16:creationId xmlns:a16="http://schemas.microsoft.com/office/drawing/2014/main" id="{80AB193E-4782-0A44-66B0-675DFD1A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54" y="1135449"/>
            <a:ext cx="3618653" cy="2035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Picture background">
            <a:extLst>
              <a:ext uri="{FF2B5EF4-FFF2-40B4-BE49-F238E27FC236}">
                <a16:creationId xmlns:a16="http://schemas.microsoft.com/office/drawing/2014/main" id="{B3ED6586-F69D-1F54-306B-09DDDCBEE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620" y="4170871"/>
            <a:ext cx="3052861" cy="1908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34">
            <a:extLst>
              <a:ext uri="{FF2B5EF4-FFF2-40B4-BE49-F238E27FC236}">
                <a16:creationId xmlns:a16="http://schemas.microsoft.com/office/drawing/2014/main" id="{A97C67DA-D17A-23F7-110D-99A7186F502E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23560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605" y="29107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+mj-lt"/>
              </a:rPr>
              <a:t>ПРЕИМУЩЕСТВА</a:t>
            </a:r>
            <a:endParaRPr lang="en-US" sz="3200" b="1" dirty="0">
              <a:latin typeface="+mj-lt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B242B2E-D742-8095-214A-B6BB250D6203}"/>
              </a:ext>
            </a:extLst>
          </p:cNvPr>
          <p:cNvGrpSpPr/>
          <p:nvPr/>
        </p:nvGrpSpPr>
        <p:grpSpPr>
          <a:xfrm>
            <a:off x="6298653" y="1735923"/>
            <a:ext cx="3254949" cy="1546285"/>
            <a:chOff x="2412753" y="2109123"/>
            <a:chExt cx="8132621" cy="2766244"/>
          </a:xfrm>
          <a:solidFill>
            <a:srgbClr val="92D050"/>
          </a:solidFill>
        </p:grpSpPr>
        <p:sp>
          <p:nvSpPr>
            <p:cNvPr id="29" name="Shape 27"/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DBC032-13FF-6847-79DE-D1DB066F3FE9}"/>
                </a:ext>
              </a:extLst>
            </p:cNvPr>
            <p:cNvSpPr txBox="1"/>
            <p:nvPr/>
          </p:nvSpPr>
          <p:spPr>
            <a:xfrm>
              <a:off x="2644812" y="2253392"/>
              <a:ext cx="7587567" cy="247770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/>
                <a:t>Личная статистика и рекомендации</a:t>
              </a:r>
            </a:p>
          </p:txBody>
        </p:sp>
      </p:grp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668000" y="6234682"/>
            <a:ext cx="1323975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07</a:t>
            </a: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/0</a:t>
            </a:r>
            <a:r>
              <a:rPr lang="ru-RU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3600" dirty="0">
              <a:latin typeface="Bahnschrift Light" panose="020B0502040204020203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D52CDDF-295C-E77A-5259-7C2580CB2C8D}"/>
              </a:ext>
            </a:extLst>
          </p:cNvPr>
          <p:cNvGrpSpPr/>
          <p:nvPr/>
        </p:nvGrpSpPr>
        <p:grpSpPr>
          <a:xfrm>
            <a:off x="2839310" y="3762631"/>
            <a:ext cx="3254949" cy="1546285"/>
            <a:chOff x="2517702" y="2061014"/>
            <a:chExt cx="8132621" cy="2766244"/>
          </a:xfrm>
          <a:solidFill>
            <a:srgbClr val="00B0F0"/>
          </a:solidFill>
        </p:grpSpPr>
        <p:sp>
          <p:nvSpPr>
            <p:cNvPr id="14" name="Shape 27">
              <a:extLst>
                <a:ext uri="{FF2B5EF4-FFF2-40B4-BE49-F238E27FC236}">
                  <a16:creationId xmlns:a16="http://schemas.microsoft.com/office/drawing/2014/main" id="{03757012-3530-EBCF-374A-CC6F1D1E4ACC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5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30A7BE-D04F-686F-83FA-6DBF7BFA25A2}"/>
                </a:ext>
              </a:extLst>
            </p:cNvPr>
            <p:cNvSpPr txBox="1"/>
            <p:nvPr/>
          </p:nvSpPr>
          <p:spPr>
            <a:xfrm>
              <a:off x="2558171" y="2316107"/>
              <a:ext cx="7841783" cy="247770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/>
                <a:t>Автоматизация проверки тестирования</a:t>
              </a:r>
              <a:endParaRPr lang="ru-RU" sz="2800" dirty="0">
                <a:cs typeface="Segoe UI" panose="020B0502040204020203" pitchFamily="34" charset="0"/>
              </a:endParaRP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A1355C0-E0AC-11EC-478A-07485CCD6AB5}"/>
              </a:ext>
            </a:extLst>
          </p:cNvPr>
          <p:cNvGrpSpPr/>
          <p:nvPr/>
        </p:nvGrpSpPr>
        <p:grpSpPr>
          <a:xfrm>
            <a:off x="2839311" y="2033181"/>
            <a:ext cx="3254949" cy="1546285"/>
            <a:chOff x="2412753" y="2109123"/>
            <a:chExt cx="8132621" cy="2766244"/>
          </a:xfrm>
          <a:solidFill>
            <a:srgbClr val="C00000"/>
          </a:solidFill>
        </p:grpSpPr>
        <p:sp>
          <p:nvSpPr>
            <p:cNvPr id="17" name="Shape 27">
              <a:extLst>
                <a:ext uri="{FF2B5EF4-FFF2-40B4-BE49-F238E27FC236}">
                  <a16:creationId xmlns:a16="http://schemas.microsoft.com/office/drawing/2014/main" id="{2198B90E-D6C3-AA07-A4D1-55184B37A8E0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solidFill>
              <a:schemeClr val="accent2"/>
            </a:solidFill>
            <a:ln w="12700">
              <a:solidFill>
                <a:schemeClr val="accent2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1174A51-36EC-D02E-D2A8-A9898EB4D590}"/>
                </a:ext>
              </a:extLst>
            </p:cNvPr>
            <p:cNvSpPr txBox="1"/>
            <p:nvPr/>
          </p:nvSpPr>
          <p:spPr>
            <a:xfrm>
              <a:off x="2680457" y="2368860"/>
              <a:ext cx="7624036" cy="247770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/>
                <a:t>Различные типы интерактивных заданий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BCED09E5-FCF2-64A9-56D8-440A52AA40E4}"/>
              </a:ext>
            </a:extLst>
          </p:cNvPr>
          <p:cNvGrpSpPr/>
          <p:nvPr/>
        </p:nvGrpSpPr>
        <p:grpSpPr>
          <a:xfrm>
            <a:off x="6299288" y="3540030"/>
            <a:ext cx="3254949" cy="1546285"/>
            <a:chOff x="2412753" y="2109124"/>
            <a:chExt cx="8132621" cy="2766244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D3659539-85A4-30E6-419B-86F27988D253}"/>
                </a:ext>
              </a:extLst>
            </p:cNvPr>
            <p:cNvSpPr/>
            <p:nvPr/>
          </p:nvSpPr>
          <p:spPr>
            <a:xfrm>
              <a:off x="2412753" y="210912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4">
                  <a:lumMod val="75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D49495-9638-D7FC-2774-01ABBF106D8C}"/>
                </a:ext>
              </a:extLst>
            </p:cNvPr>
            <p:cNvSpPr txBox="1"/>
            <p:nvPr/>
          </p:nvSpPr>
          <p:spPr>
            <a:xfrm>
              <a:off x="2657323" y="2253389"/>
              <a:ext cx="7437627" cy="247770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>
                  <a:cs typeface="Segoe UI" panose="020B0502040204020203" pitchFamily="34" charset="0"/>
                </a:rPr>
                <a:t>Систематизация учебных материалов</a:t>
              </a:r>
              <a:endParaRPr lang="ru-RU" sz="2800" dirty="0"/>
            </a:p>
          </p:txBody>
        </p:sp>
      </p:grpSp>
      <p:sp>
        <p:nvSpPr>
          <p:cNvPr id="48" name="Овал 47">
            <a:extLst>
              <a:ext uri="{FF2B5EF4-FFF2-40B4-BE49-F238E27FC236}">
                <a16:creationId xmlns:a16="http://schemas.microsoft.com/office/drawing/2014/main" id="{18649E56-F528-B184-03BC-9F2A0C9D929B}"/>
              </a:ext>
            </a:extLst>
          </p:cNvPr>
          <p:cNvSpPr/>
          <p:nvPr/>
        </p:nvSpPr>
        <p:spPr>
          <a:xfrm>
            <a:off x="11051199" y="1122016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47470B9A-A1B9-3A5C-9C74-585DDB95B0F6}"/>
              </a:ext>
            </a:extLst>
          </p:cNvPr>
          <p:cNvSpPr/>
          <p:nvPr/>
        </p:nvSpPr>
        <p:spPr>
          <a:xfrm>
            <a:off x="-1207810" y="2944536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>
            <a:extLst>
              <a:ext uri="{FF2B5EF4-FFF2-40B4-BE49-F238E27FC236}">
                <a16:creationId xmlns:a16="http://schemas.microsoft.com/office/drawing/2014/main" id="{9F9F03B7-0FE5-EE72-D08D-A5F0C825E449}"/>
              </a:ext>
            </a:extLst>
          </p:cNvPr>
          <p:cNvSpPr/>
          <p:nvPr/>
        </p:nvSpPr>
        <p:spPr>
          <a:xfrm>
            <a:off x="5831517" y="5824559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8158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 pitchFamily="34" charset="0"/>
              </a:rPr>
              <a:t>ЗАКЛЮЧЕНИЕ</a:t>
            </a:r>
            <a:endParaRPr lang="en-US" sz="32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412751" y="2109123"/>
            <a:ext cx="8132621" cy="2766244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ru-RU" sz="2400" dirty="0">
              <a:latin typeface="Aptos Display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BC032-13FF-6847-79DE-D1DB066F3FE9}"/>
              </a:ext>
            </a:extLst>
          </p:cNvPr>
          <p:cNvSpPr txBox="1"/>
          <p:nvPr/>
        </p:nvSpPr>
        <p:spPr>
          <a:xfrm>
            <a:off x="2506904" y="2521059"/>
            <a:ext cx="79443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Разработанная система позволяет изучать правила русского языка, закреплять материал с помощью тестов и контролировать результаты тестирования студентов в удобном формате</a:t>
            </a:r>
            <a:endParaRPr lang="ru-RU" sz="2800" dirty="0">
              <a:latin typeface="Aptos Display" panose="020B0004020202020204" pitchFamily="34" charset="0"/>
            </a:endParaRPr>
          </a:p>
        </p:txBody>
      </p: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749BCDA6-7284-AD16-A34A-6AEC01090891}"/>
              </a:ext>
            </a:extLst>
          </p:cNvPr>
          <p:cNvSpPr/>
          <p:nvPr/>
        </p:nvSpPr>
        <p:spPr>
          <a:xfrm>
            <a:off x="-1535859" y="2521059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78BE1258-8BCA-F4CE-3219-1EFC0F1FA1F1}"/>
              </a:ext>
            </a:extLst>
          </p:cNvPr>
          <p:cNvSpPr/>
          <p:nvPr/>
        </p:nvSpPr>
        <p:spPr>
          <a:xfrm>
            <a:off x="2863215" y="5857721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CBD4309-7A47-61DD-83EB-C5E386779FF5}"/>
              </a:ext>
            </a:extLst>
          </p:cNvPr>
          <p:cNvSpPr/>
          <p:nvPr/>
        </p:nvSpPr>
        <p:spPr>
          <a:xfrm>
            <a:off x="11163300" y="1034795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4339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4A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Овал 31">
            <a:extLst>
              <a:ext uri="{FF2B5EF4-FFF2-40B4-BE49-F238E27FC236}">
                <a16:creationId xmlns:a16="http://schemas.microsoft.com/office/drawing/2014/main" id="{C3CD927C-0D78-6C61-3DA1-D0128CF97D03}"/>
              </a:ext>
            </a:extLst>
          </p:cNvPr>
          <p:cNvSpPr/>
          <p:nvPr/>
        </p:nvSpPr>
        <p:spPr>
          <a:xfrm>
            <a:off x="1028700" y="5937691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>
            <a:extLst>
              <a:ext uri="{FF2B5EF4-FFF2-40B4-BE49-F238E27FC236}">
                <a16:creationId xmlns:a16="http://schemas.microsoft.com/office/drawing/2014/main" id="{56005B72-5DFD-0EEB-EC2C-30587A94F227}"/>
              </a:ext>
            </a:extLst>
          </p:cNvPr>
          <p:cNvSpPr/>
          <p:nvPr/>
        </p:nvSpPr>
        <p:spPr>
          <a:xfrm>
            <a:off x="-828675" y="-611558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2053689" y="468534"/>
            <a:ext cx="8084620" cy="140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ФЕДЕРАЛЬНОЕ ГОСУДАРСТВЕННОЕ БЮДЖЕТНОЕ ОБРАЗОВАТЕЛЬНОЕ УЧРЕЖДЕНИЕ ВЫСШЕГО ОБРАЗОВАНИЯ </a:t>
            </a:r>
            <a:br>
              <a:rPr lang="ru-RU" sz="1600" b="1" dirty="0"/>
            </a:br>
            <a:r>
              <a:rPr lang="ru-RU" sz="1600" b="1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600" b="1" dirty="0"/>
            </a:br>
            <a:r>
              <a:rPr lang="ru-RU" sz="1600" b="1" dirty="0"/>
              <a:t>(СПбГУТ) </a:t>
            </a:r>
            <a:br>
              <a:rPr lang="ru-RU" sz="1600" b="1" dirty="0"/>
            </a:br>
            <a:br>
              <a:rPr lang="ru-RU" sz="1600" b="1" dirty="0"/>
            </a:br>
            <a:r>
              <a:rPr lang="ru-RU" sz="1600" b="1" dirty="0"/>
              <a:t>АРХАНГЕЛЬСКИЙ КОЛЛЕДЖ ТЕЛЕКОММУНИКАЦИЙ </a:t>
            </a:r>
            <a:br>
              <a:rPr lang="ru-RU" sz="1600" b="1" dirty="0"/>
            </a:br>
            <a:r>
              <a:rPr lang="ru-RU" sz="1600" b="1" dirty="0"/>
              <a:t>ИМ. Б.Л. РОЗИНГА (ФИЛИАЛ) СПбГУТ </a:t>
            </a:r>
            <a:br>
              <a:rPr lang="ru-RU" sz="1600" b="1" dirty="0"/>
            </a:br>
            <a:r>
              <a:rPr lang="ru-RU" sz="1600" b="1" dirty="0"/>
              <a:t>(АКТ (ф) СПбГУТ) 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29A70-40A9-97E6-8158-A8661A658A4D}"/>
              </a:ext>
            </a:extLst>
          </p:cNvPr>
          <p:cNvSpPr txBox="1"/>
          <p:nvPr/>
        </p:nvSpPr>
        <p:spPr>
          <a:xfrm>
            <a:off x="1831648" y="2473076"/>
            <a:ext cx="8528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ДИПЛОМНЫЙ ПРОЕКТ</a:t>
            </a:r>
            <a:endParaRPr lang="ru-RU" sz="2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8F988-A29F-A789-2B8F-5F13D806E266}"/>
              </a:ext>
            </a:extLst>
          </p:cNvPr>
          <p:cNvSpPr txBox="1"/>
          <p:nvPr/>
        </p:nvSpPr>
        <p:spPr>
          <a:xfrm>
            <a:off x="-1609725" y="3264191"/>
            <a:ext cx="14592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РАЗРАБОТКА ИНФОРМАЦИОННОЙ СИСТЕМЫ</a:t>
            </a:r>
          </a:p>
          <a:p>
            <a:pPr algn="ctr"/>
            <a:r>
              <a:rPr lang="ru-RU" sz="2400" b="1" dirty="0">
                <a:ea typeface="Verdana" panose="020B0604030504040204" pitchFamily="34" charset="0"/>
              </a:rPr>
              <a:t>ДЛЯ ИЗУЧЕНИЯ ПРАВИЛ РУССКОГО ЯЗЫКА «ГРАММАРИУМ»</a:t>
            </a:r>
            <a:endParaRPr lang="ru-RU" sz="24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45F3-FE04-ED86-447F-D33A81725C7D}"/>
              </a:ext>
            </a:extLst>
          </p:cNvPr>
          <p:cNvSpPr txBox="1"/>
          <p:nvPr/>
        </p:nvSpPr>
        <p:spPr>
          <a:xfrm>
            <a:off x="299100" y="4672584"/>
            <a:ext cx="6215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Дипломник </a:t>
            </a:r>
          </a:p>
          <a:p>
            <a:r>
              <a:rPr lang="ru-RU" sz="1600" dirty="0" err="1">
                <a:ea typeface="Verdana" panose="020B0604030504040204" pitchFamily="34" charset="0"/>
              </a:rPr>
              <a:t>Вепрёв</a:t>
            </a:r>
            <a:r>
              <a:rPr lang="ru-RU" sz="1600" dirty="0">
                <a:ea typeface="Verdana" panose="020B0604030504040204" pitchFamily="34" charset="0"/>
              </a:rPr>
              <a:t> Александр Михайлович </a:t>
            </a:r>
            <a:endParaRPr lang="ru-RU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4FFBA4-F36A-A395-8992-3C4F95CECFA7}"/>
              </a:ext>
            </a:extLst>
          </p:cNvPr>
          <p:cNvSpPr txBox="1"/>
          <p:nvPr/>
        </p:nvSpPr>
        <p:spPr>
          <a:xfrm>
            <a:off x="299100" y="5352916"/>
            <a:ext cx="58880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Дипломный руководитель</a:t>
            </a:r>
          </a:p>
          <a:p>
            <a:r>
              <a:rPr lang="ru-RU" sz="1600" dirty="0">
                <a:ea typeface="Verdana" panose="020B0604030504040204" pitchFamily="34" charset="0"/>
              </a:rPr>
              <a:t>Старостина Вера Валерьевна</a:t>
            </a:r>
            <a:endParaRPr lang="ru-RU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C9ECBD-0FBE-9B97-3B54-1F1CB1DDAD32}"/>
              </a:ext>
            </a:extLst>
          </p:cNvPr>
          <p:cNvSpPr txBox="1"/>
          <p:nvPr/>
        </p:nvSpPr>
        <p:spPr>
          <a:xfrm>
            <a:off x="3151975" y="6426436"/>
            <a:ext cx="58880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ea typeface="Verdana" panose="020B0604030504040204" pitchFamily="34" charset="0"/>
              </a:rPr>
              <a:t>Архангельск 2026</a:t>
            </a:r>
            <a:endParaRPr lang="ru-RU" sz="160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5AE369CE-41EA-1633-FD0D-238019E1BEAC}"/>
              </a:ext>
            </a:extLst>
          </p:cNvPr>
          <p:cNvSpPr/>
          <p:nvPr/>
        </p:nvSpPr>
        <p:spPr>
          <a:xfrm>
            <a:off x="10963275" y="2604460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0463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1012</TotalTime>
  <Words>280</Words>
  <Application>Microsoft Office PowerPoint</Application>
  <PresentationFormat>Широкоэкранный</PresentationFormat>
  <Paragraphs>59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7" baseType="lpstr">
      <vt:lpstr>Aptos</vt:lpstr>
      <vt:lpstr>Aptos Display</vt:lpstr>
      <vt:lpstr>Arial</vt:lpstr>
      <vt:lpstr>Bahnschrift Light</vt:lpstr>
      <vt:lpstr>Calibri</vt:lpstr>
      <vt:lpstr>Segoe UI</vt:lpstr>
      <vt:lpstr>Verdana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Граммариум — шаблон презентации</dc:title>
  <dc:subject>Minimal Duolingo-inspired presentation template for Grammarium</dc:subject>
  <dc:creator>OpenAI</dc:creator>
  <cp:lastModifiedBy>Angel Notice</cp:lastModifiedBy>
  <cp:revision>157</cp:revision>
  <dcterms:created xsi:type="dcterms:W3CDTF">2026-05-21T19:48:09Z</dcterms:created>
  <dcterms:modified xsi:type="dcterms:W3CDTF">2026-06-16T04:52:59Z</dcterms:modified>
</cp:coreProperties>
</file>